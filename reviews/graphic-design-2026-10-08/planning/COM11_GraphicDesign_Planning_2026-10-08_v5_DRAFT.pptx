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acfbb194514d28" /><Relationship Type="http://schemas.openxmlformats.org/officeDocument/2006/relationships/extended-properties" Target="/docProps/app.xml" Id="R4d1cc025294c4b89" /><Relationship Type="http://schemas.openxmlformats.org/officeDocument/2006/relationships/officeDocument" Target="/ppt/presentation.xml" Id="Ra075e43780a24bdf" /></Relationships>
</file>

<file path=ppt/presentation.xml><?xml version="1.0" encoding="utf-8"?>
<p:presentation xmlns:p="http://schemas.openxmlformats.org/presentationml/2006/main">
  <p:sldMasterIdLst>
    <p:sldMasterId xmlns:r="http://schemas.openxmlformats.org/officeDocument/2006/relationships" id="2147483648" r:id="Re2aa5029073a4524"/>
  </p:sldMasterIdLst>
  <p:notesMasterIdLst>
    <p:notesMasterId xmlns:r="http://schemas.openxmlformats.org/officeDocument/2006/relationships" r:id="R1b9a11734b6c4458"/>
  </p:notesMasterIdLst>
  <p:sldIdLst>
    <p:sldId xmlns:r="http://schemas.openxmlformats.org/officeDocument/2006/relationships" id="256" r:id="R0411641b665a47ba"/>
    <p:sldId xmlns:r="http://schemas.openxmlformats.org/officeDocument/2006/relationships" id="257" r:id="R9c59f895da024834"/>
    <p:sldId xmlns:r="http://schemas.openxmlformats.org/officeDocument/2006/relationships" id="258" r:id="R7799f9cd1cca4cf5"/>
    <p:sldId xmlns:r="http://schemas.openxmlformats.org/officeDocument/2006/relationships" id="259" r:id="Rfad822fd8849414f"/>
    <p:sldId xmlns:r="http://schemas.openxmlformats.org/officeDocument/2006/relationships" id="260" r:id="R02ad9064a6914b41"/>
    <p:sldId xmlns:r="http://schemas.openxmlformats.org/officeDocument/2006/relationships" id="261" r:id="R3f96a74614e04b8b"/>
    <p:sldId xmlns:r="http://schemas.openxmlformats.org/officeDocument/2006/relationships" id="262" r:id="R357217eefd5848d2"/>
    <p:sldId xmlns:r="http://schemas.openxmlformats.org/officeDocument/2006/relationships" id="263" r:id="R4d05ed0ea2874d7d"/>
    <p:sldId xmlns:r="http://schemas.openxmlformats.org/officeDocument/2006/relationships" id="264" r:id="R9dc7bcc1883e4123"/>
    <p:sldId xmlns:r="http://schemas.openxmlformats.org/officeDocument/2006/relationships" id="265" r:id="R522491d727fd44f6"/>
    <p:sldId xmlns:r="http://schemas.openxmlformats.org/officeDocument/2006/relationships" id="266" r:id="Red79eacfc66a418f"/>
    <p:sldId xmlns:r="http://schemas.openxmlformats.org/officeDocument/2006/relationships" id="267" r:id="R41bae96150764d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84531181334c59" /><Relationship Type="http://schemas.openxmlformats.org/officeDocument/2006/relationships/slideMaster" Target="/ppt/slideMasters/slideMaster1.xml" Id="Re2aa5029073a4524" /><Relationship Type="http://schemas.openxmlformats.org/officeDocument/2006/relationships/notesMaster" Target="/ppt/notesMasters/notesMaster1.xml" Id="R1b9a11734b6c4458" /><Relationship Type="http://schemas.openxmlformats.org/officeDocument/2006/relationships/presProps" Target="/ppt/presProps.xml" Id="R895904a3e8c0478c" /><Relationship Type="http://schemas.openxmlformats.org/officeDocument/2006/relationships/tableStyles" Target="/ppt/tableStyles.xml" Id="Rc1fffaff15ac4ed1" /><Relationship Type="http://schemas.openxmlformats.org/officeDocument/2006/relationships/slide" Target="/ppt/slides/slide1.xml" Id="R0411641b665a47ba" /><Relationship Type="http://schemas.openxmlformats.org/officeDocument/2006/relationships/slide" Target="/ppt/slides/slide2.xml" Id="R9c59f895da024834" /><Relationship Type="http://schemas.openxmlformats.org/officeDocument/2006/relationships/slide" Target="/ppt/slides/slide3.xml" Id="R7799f9cd1cca4cf5" /><Relationship Type="http://schemas.openxmlformats.org/officeDocument/2006/relationships/slide" Target="/ppt/slides/slide4.xml" Id="Rfad822fd8849414f" /><Relationship Type="http://schemas.openxmlformats.org/officeDocument/2006/relationships/slide" Target="/ppt/slides/slide5.xml" Id="R02ad9064a6914b41" /><Relationship Type="http://schemas.openxmlformats.org/officeDocument/2006/relationships/slide" Target="/ppt/slides/slide6.xml" Id="R3f96a74614e04b8b" /><Relationship Type="http://schemas.openxmlformats.org/officeDocument/2006/relationships/slide" Target="/ppt/slides/slide7.xml" Id="R357217eefd5848d2" /><Relationship Type="http://schemas.openxmlformats.org/officeDocument/2006/relationships/slide" Target="/ppt/slides/slide8.xml" Id="R4d05ed0ea2874d7d" /><Relationship Type="http://schemas.openxmlformats.org/officeDocument/2006/relationships/slide" Target="/ppt/slides/slide9.xml" Id="R9dc7bcc1883e4123" /><Relationship Type="http://schemas.openxmlformats.org/officeDocument/2006/relationships/slide" Target="/ppt/slides/slide10.xml" Id="R522491d727fd44f6" /><Relationship Type="http://schemas.openxmlformats.org/officeDocument/2006/relationships/slide" Target="/ppt/slides/slide11.xml" Id="Red79eacfc66a418f" /><Relationship Type="http://schemas.openxmlformats.org/officeDocument/2006/relationships/slide" Target="/ppt/slides/slide12.xml" Id="R41bae9615076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0e3b8d0b8148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da2143f4ac47c4" /><Relationship Type="http://schemas.openxmlformats.org/officeDocument/2006/relationships/notesMaster" Target="/ppt/notesMasters/notesMaster1.xml" Id="R8acd4b2d6a0b4f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c2fac9a41943b0" /><Relationship Type="http://schemas.openxmlformats.org/officeDocument/2006/relationships/notesMaster" Target="/ppt/notesMasters/notesMaster1.xml" Id="R64e3504259484d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961d023d01459d" /><Relationship Type="http://schemas.openxmlformats.org/officeDocument/2006/relationships/notesMaster" Target="/ppt/notesMasters/notesMaster1.xml" Id="R104d20c821fa43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2e258b554f4136" /><Relationship Type="http://schemas.openxmlformats.org/officeDocument/2006/relationships/notesMaster" Target="/ppt/notesMasters/notesMaster1.xml" Id="Reb29874908ab4b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9dcbb773f64b42" /><Relationship Type="http://schemas.openxmlformats.org/officeDocument/2006/relationships/notesMaster" Target="/ppt/notesMasters/notesMaster1.xml" Id="R9df3110188a344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766eb255b54e3e" /><Relationship Type="http://schemas.openxmlformats.org/officeDocument/2006/relationships/notesMaster" Target="/ppt/notesMasters/notesMaster1.xml" Id="R4cd8f5871ce14f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afb2f795374d89" /><Relationship Type="http://schemas.openxmlformats.org/officeDocument/2006/relationships/notesMaster" Target="/ppt/notesMasters/notesMaster1.xml" Id="Ra313fd1b908f4d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4a04a8232c41c8" /><Relationship Type="http://schemas.openxmlformats.org/officeDocument/2006/relationships/notesMaster" Target="/ppt/notesMasters/notesMaster1.xml" Id="R119a6e2334f248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4c65c499454d05" /><Relationship Type="http://schemas.openxmlformats.org/officeDocument/2006/relationships/notesMaster" Target="/ppt/notesMasters/notesMaster1.xml" Id="R287e4fc8fcb240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6af6c21b60447a" /><Relationship Type="http://schemas.openxmlformats.org/officeDocument/2006/relationships/notesMaster" Target="/ppt/notesMasters/notesMaster1.xml" Id="Rf690d04601984e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18bf1a5e2643fe" /><Relationship Type="http://schemas.openxmlformats.org/officeDocument/2006/relationships/notesMaster" Target="/ppt/notesMasters/notesMaster1.xml" Id="R84db6d28be584a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898955bf3042ad" /><Relationship Type="http://schemas.openxmlformats.org/officeDocument/2006/relationships/notesMaster" Target="/ppt/notesMasters/notesMaster1.xml" Id="Rfa7493c1065e4b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choosing pictures or fonts, identify a particular reader, viewing setting and next action. Those facts guide your design choices. Planning is visible reasoning, not a requirement to decorate a page. Our worked café material is constructed practice; your independent message must be real and approved. Write your audience and intended action in one sentence.</a:t>
            </a:r>
          </a:p>
          <a:p xmlns:a="http://schemas.openxmlformats.org/drawingml/2006/main">
            <a:r>
              <a:t/>
            </a:r>
          </a:p>
          <a:p xmlns:a="http://schemas.openxmlformats.org/drawingml/2006/main">
            <a:r>
              <a:t>Student task: Write: My audience is __. After viewing, I want them to __.</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free editor at excalidraw.com. Its MIT-licensed source is public. No installation or account was needed for this worked board. The image is an original practice illustration. The board combines a reference, labelled colour roles, type specimens and an audience-based reason. Open the linked browser lab for action screenshots. Save an editable scene and a PNG rather than relying on shared browser storage. School access and disk-save/reopen still need verification.</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https://excalidraw.com</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Photoshop artboard is a named canvas inside one document. The mood board describes a visual direction; an artboard is the place you can put that board or a sketch. Build the mood board in the free Excalidraw browser editor, keep its editable master, then place a PNG reference on 01_MOOD. We will keep three named boards together. A layer holds an element inside a board. Selecting the board group matters when you change its size or add content.</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the distinction individually. A palette, image references and type samples propose a direction. Boxes for headline, image, detail and action propose an arrangement. Photoshop artboards can hold either. Calling a mood board an artboard confuses the purpose of the content with the container. After answering, explain your choice in your own words.</a:t>
            </a:r>
          </a:p>
          <a:p xmlns:a="http://schemas.openxmlformats.org/drawingml/2006/main">
            <a:r>
              <a:t/>
            </a:r>
          </a:p>
          <a:p xmlns:a="http://schemas.openxmlformats.org/drawingml/2006/main">
            <a:r>
              <a:t>Student task: Choose: A direction/canvas; B final ad; C every layer. Explain.</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campaign images from the main teaching deck. Study the simplified directional mark in Follow the Arches, the image and action relationship in Recycle Me, and the expressive typography in the Public Theater example. A feature may inspire an original decision, or conflict with your intended tone. Credit the reference and explain the connection. Do not copy the brand or assume that a visible design proves audience effects. Your final ad needs original or permitted assets.</a:t>
            </a:r>
          </a:p>
          <a:p xmlns:a="http://schemas.openxmlformats.org/drawingml/2006/main">
            <a:r>
              <a:t/>
            </a:r>
          </a:p>
          <a:p xmlns:a="http://schemas.openxmlformats.org/drawingml/2006/main">
            <a:r>
              <a:t>Student task: Name one reference feature and explain why it might serve your reader.</a:t>
            </a:r>
          </a:p>
          <a:p xmlns:a="http://schemas.openxmlformats.org/drawingml/2006/main">
            <a:r>
              <a:t>Source: https://www.cossette.com/en/blog/__temp_axdccudsbhhoymknkaqplbxaujyfvicbzotm</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Excalidraw, Rectangle creates a swatch and Background opens its fill colour. The actual worked values are cream f4ead5, dark ink 193443 and terracotta b85a36. The labels explain background, main words and accent roles. These are practice choices, not an independent solution. Add headline and detail specimens; the browser font does not guarantee the same font exists in Photoshop. Test final readability in the intended viewing setting.</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https://excalidraw.com</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genuine capture from our first setup attempt. Width became 1080, but the inherited height stayed 2400. The lesson is to read both pixel dimensions before and after creation. Resolution 72 PPI and RGB colour do not repair the wrong height. The corrective native demonstration is still pending; your teacher must verify the procedure before classroom use.</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https://helpx.adobe.com/photoshop/desktop/create-manage-layers/layout-design-tools/artboard-properties.html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Diagnose the actual mistake. A tall artboard was created because the height field did not change. The proposed repair is to select the artboard group and set its H property to 1350. That repair has not yet been captured or tested here. Changing a type layer or altering only PPI would not address this cause. Explain why your chosen repair targets the mismatch.</a:t>
            </a:r>
          </a:p>
          <a:p xmlns:a="http://schemas.openxmlformats.org/drawingml/2006/main">
            <a:r>
              <a:t/>
            </a:r>
          </a:p>
          <a:p xmlns:a="http://schemas.openxmlformats.org/drawingml/2006/main">
            <a:r>
              <a:t>Student task: Check: A artboard height; B text tracking; C PPI only. Explain.</a:t>
            </a:r>
          </a:p>
          <a:p xmlns:a="http://schemas.openxmlformats.org/drawingml/2006/main">
            <a:r>
              <a:t>Source: https://helpx.adobe.com/photoshop/desktop/create-manage-layers/layout-design-tools/artboard-properties.html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thumbnail is a low-cost layout hypothesis. Option A may lead with a headline, while B may lead with an image. Keep the same essential information and size so the comparison is meaningful. In Photoshop use editable shape and text layers, or import paper thumbnails. Do not begin with effects or detailed retouching. The question is whether the reader finds the message and action.</a:t>
            </a:r>
          </a:p>
          <a:p xmlns:a="http://schemas.openxmlformats.org/drawingml/2006/main">
            <a:r>
              <a:t/>
            </a:r>
          </a:p>
          <a:p xmlns:a="http://schemas.openxmlformats.org/drawingml/2006/main">
            <a:r>
              <a:t>Student task: Make A and B differ in hierarchy. Predict first → second → third for each.</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the reader noticed first, what the message was, and what they would do next. Avoid telling them what you intended before they respond. Record what happened, even when it disagrees with your prediction. If you have no reader, label the record self-check. A fair comparison and honest observation provide a reason for a revision; invented praise does not.</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two initial sketches. Duplicate the direction you choose and change one feature connected to an observed problem. Retest with neutral questions. Explain the benefit and anything the change makes harder. If your teacher changes the audience or viewing setting, decide what you would retain and what you would change. The purpose is independent judgement, not copying the worked model.</a:t>
            </a:r>
          </a:p>
          <a:p xmlns:a="http://schemas.openxmlformats.org/drawingml/2006/main">
            <a:r>
              <a:t/>
            </a:r>
          </a:p>
          <a:p xmlns:a="http://schemas.openxmlformats.org/drawingml/2006/main">
            <a:r>
              <a:t>Student task: Which feature would you change after feedback, and why?</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browser mood board as an editable .excalidraw scene and a review PNG. Bring the PNG into 01_MOOD as a reference, then make two editable Photoshop layout sketches. Explain actual reader feedback and a visible revision. Canvas text, image placement, palette values and Copy PNG were observed; browser file-picker/disk-save/reopen and the native Photoshop save/reopen path remain unverified. These procedures require school-browser and independent cold-run checks before release. Your teacher evaluates the communication decisions, not completion counts.</a:t>
            </a:r>
          </a:p>
          <a:p xmlns:a="http://schemas.openxmlformats.org/drawingml/2006/main">
            <a:r>
              <a:t/>
            </a:r>
          </a:p>
          <a:p xmlns:a="http://schemas.openxmlformats.org/drawingml/2006/main">
            <a:r>
              <a:t>Student task: Evidence: A reader response + visible change; B completed steps; C file size. Explain.</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783b254f3348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51d042517c4bad" /><Relationship Type="http://schemas.openxmlformats.org/officeDocument/2006/relationships/slideLayout" Target="/ppt/slideLayouts/slideLayout1.xml" Id="R400ae8750d3041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0ae8750d3041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ae14c8bf3540be" /><Relationship Type="http://schemas.openxmlformats.org/officeDocument/2006/relationships/image" Target="/ppt/media/image.png" Id="Rd998088ab6c44dd6" /><Relationship Type="http://schemas.openxmlformats.org/officeDocument/2006/relationships/notesSlide" Target="/ppt/notesSlides/notesSlide1.xml" Id="R47483154a4ad4b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61d23d5c70472c" /><Relationship Type="http://schemas.openxmlformats.org/officeDocument/2006/relationships/image" Target="/ppt/media/image.jpeg" Id="R65c1a1f32cd4470a" /><Relationship Type="http://schemas.openxmlformats.org/officeDocument/2006/relationships/notesSlide" Target="/ppt/notesSlides/notesSlide2.xml" Id="R524b6485432b42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af33bb79544791" /><Relationship Type="http://schemas.openxmlformats.org/officeDocument/2006/relationships/image" Target="/ppt/media/image2.png" Id="R443f79c099514385" /><Relationship Type="http://schemas.openxmlformats.org/officeDocument/2006/relationships/notesSlide" Target="/ppt/notesSlides/notesSlide3.xml" Id="R0b68133b43f84d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6f375614374af8" /><Relationship Type="http://schemas.openxmlformats.org/officeDocument/2006/relationships/image" Target="/ppt/media/image3.png" Id="Ra6b157be770b4bc3" /><Relationship Type="http://schemas.openxmlformats.org/officeDocument/2006/relationships/notesSlide" Target="/ppt/notesSlides/notesSlide4.xml" Id="Re9d37e4ed63c49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fceb637ca6457f" /><Relationship Type="http://schemas.openxmlformats.org/officeDocument/2006/relationships/image" Target="/ppt/media/image4.png" Id="R9976c4b67f394d20" /><Relationship Type="http://schemas.openxmlformats.org/officeDocument/2006/relationships/notesSlide" Target="/ppt/notesSlides/notesSlide5.xml" Id="R1631cff5537e48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222c9313434a5a" /><Relationship Type="http://schemas.openxmlformats.org/officeDocument/2006/relationships/image" Target="/ppt/media/image2.jpeg" Id="R9f332016386a4e97" /><Relationship Type="http://schemas.openxmlformats.org/officeDocument/2006/relationships/notesSlide" Target="/ppt/notesSlides/notesSlide6.xml" Id="R1f976dce5c2a45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8c910bb89c46ab" /><Relationship Type="http://schemas.openxmlformats.org/officeDocument/2006/relationships/image" Target="/ppt/media/image3.jpeg" Id="R0859b90e893846be" /><Relationship Type="http://schemas.openxmlformats.org/officeDocument/2006/relationships/notesSlide" Target="/ppt/notesSlides/notesSlide7.xml" Id="R36c05ec840464f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2d3d015fce4fa2" /><Relationship Type="http://schemas.openxmlformats.org/officeDocument/2006/relationships/image" Target="/ppt/media/image4.jpeg" Id="Rb78ffcad829d49b7" /><Relationship Type="http://schemas.openxmlformats.org/officeDocument/2006/relationships/notesSlide" Target="/ppt/notesSlides/notesSlide8.xml" Id="R6896dea24a3948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d67310669342a4" /><Relationship Type="http://schemas.openxmlformats.org/officeDocument/2006/relationships/image" Target="/ppt/media/image5.png" Id="Rd0a90eb9df7540a1" /><Relationship Type="http://schemas.openxmlformats.org/officeDocument/2006/relationships/notesSlide" Target="/ppt/notesSlides/notesSlide9.xml" Id="R9308aa9c82dd47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133005a27441af" /><Relationship Type="http://schemas.openxmlformats.org/officeDocument/2006/relationships/image" Target="/ppt/media/image6.png" Id="Rb5c42956da024e40" /><Relationship Type="http://schemas.openxmlformats.org/officeDocument/2006/relationships/notesSlide" Target="/ppt/notesSlides/notesSlide10.xml" Id="R1f1c4550980442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d1e79d8ff4b4992" /><Relationship Type="http://schemas.openxmlformats.org/officeDocument/2006/relationships/image" Target="/ppt/media/image7.png" Id="Raf27086477304546" /><Relationship Type="http://schemas.openxmlformats.org/officeDocument/2006/relationships/notesSlide" Target="/ppt/notesSlides/notesSlide11.xml" Id="Rd56ae527e0f04e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23fa5bfc8941f1" /><Relationship Type="http://schemas.openxmlformats.org/officeDocument/2006/relationships/image" Target="/ppt/media/image8.png" Id="Rc1d7c21aa1ac4d5d" /><Relationship Type="http://schemas.openxmlformats.org/officeDocument/2006/relationships/notesSlide" Target="/ppt/notesSlides/notesSlide12.xml" Id="R5364ff4bab1d4fcb" /></Relationships>
</file>

<file path=ppt/slides/slide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A4AC09-BF20-4A2A-9E61-BBD7960C5221}"/>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Planning starts with the reader</a:t>
            </a:r>
          </a:p>
        </p:txBody>
      </p:sp>
      <p:sp>
        <p:nvSpPr>
          <p:cNvPr id="2" name="">
            <a:extLst xmlns:a="http://schemas.openxmlformats.org/drawingml/2006/main">
              <a:ext uri="{FF2B5EF4-FFF2-40B4-BE49-F238E27FC236}">
                <a16:creationId xmlns:a16="http://schemas.microsoft.com/office/drawing/2014/main" id="{49DCBBCE-39BC-4CC8-BD39-EBC23F82886B}"/>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Audience → message →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998088ab6c44dd6"/>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2984B82-87BA-48AD-A36B-3E01C5DC6849}"/>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State who will see the ad and what they should do.</a:t>
            </a:r>
          </a:p>
        </p:txBody>
      </p:sp>
      <p:sp>
        <p:nvSpPr>
          <p:cNvPr id="5" name="">
            <a:extLst xmlns:a="http://schemas.openxmlformats.org/drawingml/2006/main">
              <a:ext uri="{FF2B5EF4-FFF2-40B4-BE49-F238E27FC236}">
                <a16:creationId xmlns:a16="http://schemas.microsoft.com/office/drawing/2014/main" id="{8DD64629-0F9B-4255-9EBB-98B8A8AD3747}"/>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The independent ad uses an actual approved school/community message.</a:t>
            </a:r>
          </a:p>
        </p:txBody>
      </p:sp>
      <p:sp>
        <p:nvSpPr>
          <p:cNvPr id="6" name="">
            <a:extLst xmlns:a="http://schemas.openxmlformats.org/drawingml/2006/main">
              <a:ext uri="{FF2B5EF4-FFF2-40B4-BE49-F238E27FC236}">
                <a16:creationId xmlns:a16="http://schemas.microsoft.com/office/drawing/2014/main" id="{EF71DBCA-E453-4503-ABAF-F0C885073909}"/>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Write: My audience is __. After viewing, I want them to __.</a:t>
            </a:r>
          </a:p>
        </p:txBody>
      </p:sp>
      <p:sp>
        <p:nvSpPr>
          <p:cNvPr id="7" name="">
            <a:extLst xmlns:a="http://schemas.openxmlformats.org/drawingml/2006/main">
              <a:ext uri="{FF2B5EF4-FFF2-40B4-BE49-F238E27FC236}">
                <a16:creationId xmlns:a16="http://schemas.microsoft.com/office/drawing/2014/main" id="{32E0013B-EAA4-4089-AC20-D41A912474BB}"/>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01 / 12 · Original teaching model</a:t>
            </a:r>
          </a:p>
        </p:txBody>
      </p:sp>
    </p:spTree>
    <p:extLst>
      <p:ext uri="{BB962C8B-B14F-4D97-AF65-F5344CB8AC3E}">
        <p14:creationId xmlns:p14="http://schemas.microsoft.com/office/powerpoint/2010/main" val="1582434040"/>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E1BCE3-2704-45AF-A921-CCA2D4736B4B}"/>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Build the mood board in your browser</a:t>
            </a:r>
          </a:p>
        </p:txBody>
      </p:sp>
      <p:sp>
        <p:nvSpPr>
          <p:cNvPr id="2" name="">
            <a:extLst xmlns:a="http://schemas.openxmlformats.org/drawingml/2006/main">
              <a:ext uri="{FF2B5EF4-FFF2-40B4-BE49-F238E27FC236}">
                <a16:creationId xmlns:a16="http://schemas.microsoft.com/office/drawing/2014/main" id="{819CD2C8-FB26-433B-A63B-1D35E1113A0F}"/>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Free Excalidraw editor · no installation or account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5c1a1f32cd4470a"/>
          <a:stretch xmlns:a="http://schemas.openxmlformats.org/drawingml/2006/main"/>
        </p:blipFill>
        <p:spPr>
          <a:xfrm xmlns:a="http://schemas.openxmlformats.org/drawingml/2006/main">
            <a:off x="1642218" y="2105025"/>
            <a:ext cx="4792763"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23F8F4-68A4-42DE-B61B-1AE0F641D030}"/>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Arrange an image, colour roles, type samples and reasons.</a:t>
            </a:r>
          </a:p>
        </p:txBody>
      </p:sp>
      <p:sp>
        <p:nvSpPr>
          <p:cNvPr id="5" name="">
            <a:extLst xmlns:a="http://schemas.openxmlformats.org/drawingml/2006/main">
              <a:ext uri="{FF2B5EF4-FFF2-40B4-BE49-F238E27FC236}">
                <a16:creationId xmlns:a16="http://schemas.microsoft.com/office/drawing/2014/main" id="{0E3C81E3-DAC4-4D59-A120-5DB9DECAE025}"/>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Keep an editable .excalidraw master and a review PNG.</a:t>
            </a:r>
          </a:p>
        </p:txBody>
      </p:sp>
      <p:sp>
        <p:nvSpPr>
          <p:cNvPr id="6" name="">
            <a:extLst xmlns:a="http://schemas.openxmlformats.org/drawingml/2006/main">
              <a:ext uri="{FF2B5EF4-FFF2-40B4-BE49-F238E27FC236}">
                <a16:creationId xmlns:a16="http://schemas.microsoft.com/office/drawing/2014/main" id="{307CC429-9D54-4698-858F-12DBBDBF67EC}"/>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7BAB44E0-FCBB-41FD-9287-D2DCAEE1A4D7}"/>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02 / 12 · Genuine Excalidraw canvas; original illustration</a:t>
            </a:r>
          </a:p>
        </p:txBody>
      </p:sp>
    </p:spTree>
    <p:extLst>
      <p:ext uri="{BB962C8B-B14F-4D97-AF65-F5344CB8AC3E}">
        <p14:creationId xmlns:p14="http://schemas.microsoft.com/office/powerpoint/2010/main" val="101684861"/>
      </p:ext>
    </p:extLst>
  </p:cSld>
</p:sld>
</file>

<file path=ppt/slides/slide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B87AF7-03F7-44E3-AB68-1F1229F1E592}"/>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An artboard is a canvas inside the file</a:t>
            </a:r>
          </a:p>
        </p:txBody>
      </p:sp>
      <p:sp>
        <p:nvSpPr>
          <p:cNvPr id="2" name="">
            <a:extLst xmlns:a="http://schemas.openxmlformats.org/drawingml/2006/main">
              <a:ext uri="{FF2B5EF4-FFF2-40B4-BE49-F238E27FC236}">
                <a16:creationId xmlns:a16="http://schemas.microsoft.com/office/drawing/2014/main" id="{2FA85484-8C99-4520-BFE0-93852F9565B0}"/>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One Photoshop document, several layouts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43f79c099514385"/>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C4BB37-5D78-4788-8DD5-0995693F80B4}"/>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Keep a PNG mood reference, option A and option B together.</a:t>
            </a:r>
          </a:p>
        </p:txBody>
      </p:sp>
      <p:sp>
        <p:nvSpPr>
          <p:cNvPr id="5" name="">
            <a:extLst xmlns:a="http://schemas.openxmlformats.org/drawingml/2006/main">
              <a:ext uri="{FF2B5EF4-FFF2-40B4-BE49-F238E27FC236}">
                <a16:creationId xmlns:a16="http://schemas.microsoft.com/office/drawing/2014/main" id="{788CD9A0-0370-4528-B17D-F38F66CA31FE}"/>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Artboards contain their own layers and clip content at their edges.</a:t>
            </a:r>
          </a:p>
        </p:txBody>
      </p:sp>
      <p:sp>
        <p:nvSpPr>
          <p:cNvPr id="6" name="">
            <a:extLst xmlns:a="http://schemas.openxmlformats.org/drawingml/2006/main">
              <a:ext uri="{FF2B5EF4-FFF2-40B4-BE49-F238E27FC236}">
                <a16:creationId xmlns:a16="http://schemas.microsoft.com/office/drawing/2014/main" id="{68AFA7D1-01F9-43B7-A2B2-7E10B63F4448}"/>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C5C72F06-05C3-4FFE-9C71-A3FAFEF9A43A}"/>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03 / 12 · Adobe artboards; original layout models</a:t>
            </a:r>
          </a:p>
        </p:txBody>
      </p:sp>
    </p:spTree>
    <p:extLst>
      <p:ext uri="{BB962C8B-B14F-4D97-AF65-F5344CB8AC3E}">
        <p14:creationId xmlns:p14="http://schemas.microsoft.com/office/powerpoint/2010/main" val="1234529826"/>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43A077-A90F-431D-96E5-30E315BE8198}"/>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Explain the difference</a:t>
            </a:r>
          </a:p>
        </p:txBody>
      </p:sp>
      <p:sp>
        <p:nvSpPr>
          <p:cNvPr id="2" name="">
            <a:extLst xmlns:a="http://schemas.openxmlformats.org/drawingml/2006/main">
              <a:ext uri="{FF2B5EF4-FFF2-40B4-BE49-F238E27FC236}">
                <a16:creationId xmlns:a16="http://schemas.microsoft.com/office/drawing/2014/main" id="{5FBD4BC4-0E6B-4E4A-8FAC-DBACBD1E1DA9}"/>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Direction and arrangement answer different questions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6b157be770b4bc3"/>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C81A55-3F96-4F9C-B0FF-391A8A9D4783}"/>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Mood: what should it feel like? Sketch: where does information go?</a:t>
            </a:r>
          </a:p>
        </p:txBody>
      </p:sp>
      <p:sp>
        <p:nvSpPr>
          <p:cNvPr id="5" name="">
            <a:extLst xmlns:a="http://schemas.openxmlformats.org/drawingml/2006/main">
              <a:ext uri="{FF2B5EF4-FFF2-40B4-BE49-F238E27FC236}">
                <a16:creationId xmlns:a16="http://schemas.microsoft.com/office/drawing/2014/main" id="{953F138A-7E70-46F5-9BED-9156B60D0EC0}"/>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You can create both on artboards.</a:t>
            </a:r>
          </a:p>
        </p:txBody>
      </p:sp>
      <p:sp>
        <p:nvSpPr>
          <p:cNvPr id="6" name="">
            <a:extLst xmlns:a="http://schemas.openxmlformats.org/drawingml/2006/main">
              <a:ext uri="{FF2B5EF4-FFF2-40B4-BE49-F238E27FC236}">
                <a16:creationId xmlns:a16="http://schemas.microsoft.com/office/drawing/2014/main" id="{B3A43257-5F32-4D98-90CE-4E70A377C4FE}"/>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Choose: A direction/canvas; B final ad; C every layer. Explain.</a:t>
            </a:r>
          </a:p>
        </p:txBody>
      </p:sp>
      <p:sp>
        <p:nvSpPr>
          <p:cNvPr id="7" name="">
            <a:extLst xmlns:a="http://schemas.openxmlformats.org/drawingml/2006/main">
              <a:ext uri="{FF2B5EF4-FFF2-40B4-BE49-F238E27FC236}">
                <a16:creationId xmlns:a16="http://schemas.microsoft.com/office/drawing/2014/main" id="{695CCC72-B702-488A-9B90-849843A7D6D9}"/>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04 / 12 · Original teaching model</a:t>
            </a:r>
          </a:p>
        </p:txBody>
      </p:sp>
    </p:spTree>
    <p:extLst>
      <p:ext uri="{BB962C8B-B14F-4D97-AF65-F5344CB8AC3E}">
        <p14:creationId xmlns:p14="http://schemas.microsoft.com/office/powerpoint/2010/main" val="283097534"/>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C2E770-E0A4-47A5-BAA1-A01CCF1853FC}"/>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Translate a reference into a choice</a:t>
            </a:r>
          </a:p>
        </p:txBody>
      </p:sp>
      <p:sp>
        <p:nvSpPr>
          <p:cNvPr id="2" name="">
            <a:extLst xmlns:a="http://schemas.openxmlformats.org/drawingml/2006/main">
              <a:ext uri="{FF2B5EF4-FFF2-40B4-BE49-F238E27FC236}">
                <a16:creationId xmlns:a16="http://schemas.microsoft.com/office/drawing/2014/main" id="{7AE82640-0CC0-446A-80A1-8C7991DABA04}"/>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Visible feature → idea → reason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976c4b67f394d20"/>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F346258-FC35-4EBF-B7E0-E3F4C5D85570}"/>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Study one feature; design an original response.</a:t>
            </a:r>
          </a:p>
        </p:txBody>
      </p:sp>
      <p:sp>
        <p:nvSpPr>
          <p:cNvPr id="5" name="">
            <a:extLst xmlns:a="http://schemas.openxmlformats.org/drawingml/2006/main">
              <a:ext uri="{FF2B5EF4-FFF2-40B4-BE49-F238E27FC236}">
                <a16:creationId xmlns:a16="http://schemas.microsoft.com/office/drawing/2014/main" id="{F3A89A13-983F-4A89-9974-8F439A07B207}"/>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Record creator/source and permission.</a:t>
            </a:r>
          </a:p>
        </p:txBody>
      </p:sp>
      <p:sp>
        <p:nvSpPr>
          <p:cNvPr id="6" name="">
            <a:extLst xmlns:a="http://schemas.openxmlformats.org/drawingml/2006/main">
              <a:ext uri="{FF2B5EF4-FFF2-40B4-BE49-F238E27FC236}">
                <a16:creationId xmlns:a16="http://schemas.microsoft.com/office/drawing/2014/main" id="{D76EA194-7424-486C-BA44-10A70FC3B7FC}"/>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Name one reference feature and explain why it might serve your reader.</a:t>
            </a:r>
          </a:p>
        </p:txBody>
      </p:sp>
      <p:sp>
        <p:nvSpPr>
          <p:cNvPr id="7" name="">
            <a:extLst xmlns:a="http://schemas.openxmlformats.org/drawingml/2006/main">
              <a:ext uri="{FF2B5EF4-FFF2-40B4-BE49-F238E27FC236}">
                <a16:creationId xmlns:a16="http://schemas.microsoft.com/office/drawing/2014/main" id="{DD45C30D-0839-4A4F-89F1-C8CCB323E445}"/>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05 / 12 · Actual campaigns: Cossette / Ogilvy / Pentagram</a:t>
            </a:r>
          </a:p>
        </p:txBody>
      </p:sp>
    </p:spTree>
    <p:extLst>
      <p:ext uri="{BB962C8B-B14F-4D97-AF65-F5344CB8AC3E}">
        <p14:creationId xmlns:p14="http://schemas.microsoft.com/office/powerpoint/2010/main" val="223721384"/>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53C139-0692-4D24-879A-1851E605C872}"/>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Give colour and type clear roles</a:t>
            </a:r>
          </a:p>
        </p:txBody>
      </p:sp>
      <p:sp>
        <p:nvSpPr>
          <p:cNvPr id="2" name="">
            <a:extLst xmlns:a="http://schemas.openxmlformats.org/drawingml/2006/main">
              <a:ext uri="{FF2B5EF4-FFF2-40B4-BE49-F238E27FC236}">
                <a16:creationId xmlns:a16="http://schemas.microsoft.com/office/drawing/2014/main" id="{4CD497C6-D295-4E75-8626-7C3656F788E9}"/>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Background · message · accent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f332016386a4e97"/>
          <a:stretch xmlns:a="http://schemas.openxmlformats.org/drawingml/2006/main"/>
        </p:blipFill>
        <p:spPr>
          <a:xfrm xmlns:a="http://schemas.openxmlformats.org/drawingml/2006/main">
            <a:off x="819847" y="2105025"/>
            <a:ext cx="6437506"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4993DD-5916-44D1-9479-B3D7195B3E0F}"/>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Annotate roles instead of listing favourites.</a:t>
            </a:r>
          </a:p>
        </p:txBody>
      </p:sp>
      <p:sp>
        <p:nvSpPr>
          <p:cNvPr id="5" name="">
            <a:extLst xmlns:a="http://schemas.openxmlformats.org/drawingml/2006/main">
              <a:ext uri="{FF2B5EF4-FFF2-40B4-BE49-F238E27FC236}">
                <a16:creationId xmlns:a16="http://schemas.microsoft.com/office/drawing/2014/main" id="{A51364FB-39D4-4623-98FC-129F23473102}"/>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Keep words readable; the palette label does not prove contrast.</a:t>
            </a:r>
          </a:p>
        </p:txBody>
      </p:sp>
      <p:sp>
        <p:nvSpPr>
          <p:cNvPr id="6" name="">
            <a:extLst xmlns:a="http://schemas.openxmlformats.org/drawingml/2006/main">
              <a:ext uri="{FF2B5EF4-FFF2-40B4-BE49-F238E27FC236}">
                <a16:creationId xmlns:a16="http://schemas.microsoft.com/office/drawing/2014/main" id="{EB395ADF-CE2A-42EC-908D-B93E451E2488}"/>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B0A2DC3C-6D0B-4CDD-A012-1A061FD5148D}"/>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06 / 12 · Genuine browser palette; worked-example values</a:t>
            </a:r>
          </a:p>
        </p:txBody>
      </p:sp>
    </p:spTree>
    <p:extLst>
      <p:ext uri="{BB962C8B-B14F-4D97-AF65-F5344CB8AC3E}">
        <p14:creationId xmlns:p14="http://schemas.microsoft.com/office/powerpoint/2010/main" val="1191069878"/>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70C3BE-A507-4028-A589-1C35A74F0387}"/>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Check both artboard dimensions</a:t>
            </a:r>
          </a:p>
        </p:txBody>
      </p:sp>
      <p:sp>
        <p:nvSpPr>
          <p:cNvPr id="2" name="">
            <a:extLst xmlns:a="http://schemas.openxmlformats.org/drawingml/2006/main">
              <a:ext uri="{FF2B5EF4-FFF2-40B4-BE49-F238E27FC236}">
                <a16:creationId xmlns:a16="http://schemas.microsoft.com/office/drawing/2014/main" id="{4D99F260-1AAB-4131-8525-110E6AE96549}"/>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1080 × 1350 px for this digital practice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859b90e893846be"/>
          <a:stretch xmlns:a="http://schemas.openxmlformats.org/drawingml/2006/main"/>
        </p:blipFill>
        <p:spPr>
          <a:xfrm xmlns:a="http://schemas.openxmlformats.org/drawingml/2006/main">
            <a:off x="826217" y="2105025"/>
            <a:ext cx="6424766"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90D3A66-BC0F-4C27-A373-BC0831F89E9B}"/>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Use File → New, with Artboards enabled.</a:t>
            </a:r>
          </a:p>
        </p:txBody>
      </p:sp>
      <p:sp>
        <p:nvSpPr>
          <p:cNvPr id="5" name="">
            <a:extLst xmlns:a="http://schemas.openxmlformats.org/drawingml/2006/main">
              <a:ext uri="{FF2B5EF4-FFF2-40B4-BE49-F238E27FC236}">
                <a16:creationId xmlns:a16="http://schemas.microsoft.com/office/drawing/2014/main" id="{913298D8-498D-4245-B0A3-8AB34433EDC7}"/>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Genuine capture shows an incorrect inherited H 2400. Correction is pending.</a:t>
            </a:r>
          </a:p>
        </p:txBody>
      </p:sp>
      <p:sp>
        <p:nvSpPr>
          <p:cNvPr id="6" name="">
            <a:extLst xmlns:a="http://schemas.openxmlformats.org/drawingml/2006/main">
              <a:ext uri="{FF2B5EF4-FFF2-40B4-BE49-F238E27FC236}">
                <a16:creationId xmlns:a16="http://schemas.microsoft.com/office/drawing/2014/main" id="{73F598BF-C40B-4A9B-B899-FAF07AE7FA7E}"/>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8456E048-DCAA-409A-B4EA-6BB3AB6ED353}"/>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07 / 12 · Genuine local Photoshop capture; Adobe properties</a:t>
            </a:r>
          </a:p>
        </p:txBody>
      </p:sp>
    </p:spTree>
    <p:extLst>
      <p:ext uri="{BB962C8B-B14F-4D97-AF65-F5344CB8AC3E}">
        <p14:creationId xmlns:p14="http://schemas.microsoft.com/office/powerpoint/2010/main" val="69910942"/>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44598F-130A-490C-9AEA-BAA1D82DF673}"/>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Diagnose the setup mistake</a:t>
            </a:r>
          </a:p>
        </p:txBody>
      </p:sp>
      <p:sp>
        <p:nvSpPr>
          <p:cNvPr id="2" name="">
            <a:extLst xmlns:a="http://schemas.openxmlformats.org/drawingml/2006/main">
              <a:ext uri="{FF2B5EF4-FFF2-40B4-BE49-F238E27FC236}">
                <a16:creationId xmlns:a16="http://schemas.microsoft.com/office/drawing/2014/main" id="{E80EF32C-D82B-4450-988D-1BE6642847BE}"/>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Read the values, then target the cause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78ffcad829d49b7"/>
          <a:stretch xmlns:a="http://schemas.openxmlformats.org/drawingml/2006/main"/>
        </p:blipFill>
        <p:spPr>
          <a:xfrm xmlns:a="http://schemas.openxmlformats.org/drawingml/2006/main">
            <a:off x="826217" y="2105025"/>
            <a:ext cx="6424766"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751127-1A0A-4931-91D8-36892B2590A5}"/>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The requested frame is 1080 × 1350.</a:t>
            </a:r>
          </a:p>
        </p:txBody>
      </p:sp>
      <p:sp>
        <p:nvSpPr>
          <p:cNvPr id="5" name="">
            <a:extLst xmlns:a="http://schemas.openxmlformats.org/drawingml/2006/main">
              <a:ext uri="{FF2B5EF4-FFF2-40B4-BE49-F238E27FC236}">
                <a16:creationId xmlns:a16="http://schemas.microsoft.com/office/drawing/2014/main" id="{150FDDAC-89D4-43F4-9867-1BD64E49792A}"/>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Select the artboard; inspect W and H in Properties.</a:t>
            </a:r>
          </a:p>
        </p:txBody>
      </p:sp>
      <p:sp>
        <p:nvSpPr>
          <p:cNvPr id="6" name="">
            <a:extLst xmlns:a="http://schemas.openxmlformats.org/drawingml/2006/main">
              <a:ext uri="{FF2B5EF4-FFF2-40B4-BE49-F238E27FC236}">
                <a16:creationId xmlns:a16="http://schemas.microsoft.com/office/drawing/2014/main" id="{9E2C54E1-5CA8-4F20-8B62-546F7CD33484}"/>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Check: A artboard height; B text tracking; C PPI only. Explain.</a:t>
            </a:r>
          </a:p>
        </p:txBody>
      </p:sp>
      <p:sp>
        <p:nvSpPr>
          <p:cNvPr id="7" name="">
            <a:extLst xmlns:a="http://schemas.openxmlformats.org/drawingml/2006/main">
              <a:ext uri="{FF2B5EF4-FFF2-40B4-BE49-F238E27FC236}">
                <a16:creationId xmlns:a16="http://schemas.microsoft.com/office/drawing/2014/main" id="{3F1321BF-E69B-4F39-A6EE-C3311F36CC2E}"/>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08 / 12 · Observed local mistake; Adobe properties</a:t>
            </a:r>
          </a:p>
        </p:txBody>
      </p:sp>
    </p:spTree>
    <p:extLst>
      <p:ext uri="{BB962C8B-B14F-4D97-AF65-F5344CB8AC3E}">
        <p14:creationId xmlns:p14="http://schemas.microsoft.com/office/powerpoint/2010/main" val="1027601407"/>
      </p:ext>
    </p:extLst>
  </p:cSld>
</p:sld>
</file>

<file path=ppt/slides/slide9.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BD7BFC-00B4-41EC-BF16-37D35A68500B}"/>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Sketch before polishing</a:t>
            </a:r>
          </a:p>
        </p:txBody>
      </p:sp>
      <p:sp>
        <p:nvSpPr>
          <p:cNvPr id="2" name="">
            <a:extLst xmlns:a="http://schemas.openxmlformats.org/drawingml/2006/main">
              <a:ext uri="{FF2B5EF4-FFF2-40B4-BE49-F238E27FC236}">
                <a16:creationId xmlns:a16="http://schemas.microsoft.com/office/drawing/2014/main" id="{1BE8F507-E6AD-4379-B396-17AD2314C4DD}"/>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Compare two different reading orders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0a90eb9df7540a1"/>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084266-8E96-4700-BEDE-B2B6EE620C01}"/>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Use boxes and short labels for the important parts.</a:t>
            </a:r>
          </a:p>
        </p:txBody>
      </p:sp>
      <p:sp>
        <p:nvSpPr>
          <p:cNvPr id="5" name="">
            <a:extLst xmlns:a="http://schemas.openxmlformats.org/drawingml/2006/main">
              <a:ext uri="{FF2B5EF4-FFF2-40B4-BE49-F238E27FC236}">
                <a16:creationId xmlns:a16="http://schemas.microsoft.com/office/drawing/2014/main" id="{9D20ABE0-53D0-436F-9790-E4B5D1B05A25}"/>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Keep the brief, copy, palette and size fixed.</a:t>
            </a:r>
          </a:p>
        </p:txBody>
      </p:sp>
      <p:sp>
        <p:nvSpPr>
          <p:cNvPr id="6" name="">
            <a:extLst xmlns:a="http://schemas.openxmlformats.org/drawingml/2006/main">
              <a:ext uri="{FF2B5EF4-FFF2-40B4-BE49-F238E27FC236}">
                <a16:creationId xmlns:a16="http://schemas.microsoft.com/office/drawing/2014/main" id="{D251B083-F238-49DF-8402-E847099F0952}"/>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Make A and B differ in hierarchy. Predict first → second → third for each.</a:t>
            </a:r>
          </a:p>
        </p:txBody>
      </p:sp>
      <p:sp>
        <p:nvSpPr>
          <p:cNvPr id="7" name="">
            <a:extLst xmlns:a="http://schemas.openxmlformats.org/drawingml/2006/main">
              <a:ext uri="{FF2B5EF4-FFF2-40B4-BE49-F238E27FC236}">
                <a16:creationId xmlns:a16="http://schemas.microsoft.com/office/drawing/2014/main" id="{617CAD41-A4ED-4190-AE71-C7AEC5909B0C}"/>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09 / 12 · Original teaching model</a:t>
            </a:r>
          </a:p>
        </p:txBody>
      </p:sp>
    </p:spTree>
    <p:extLst>
      <p:ext uri="{BB962C8B-B14F-4D97-AF65-F5344CB8AC3E}">
        <p14:creationId xmlns:p14="http://schemas.microsoft.com/office/powerpoint/2010/main" val="698190112"/>
      </p:ext>
    </p:extLst>
  </p:cSld>
</p:sld>
</file>

<file path=ppt/slides/slide10.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335C25-534F-49E3-8B09-D265B06BD09D}"/>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Ask a reader without coaching the answer</a:t>
            </a:r>
          </a:p>
        </p:txBody>
      </p:sp>
      <p:sp>
        <p:nvSpPr>
          <p:cNvPr id="2" name="">
            <a:extLst xmlns:a="http://schemas.openxmlformats.org/drawingml/2006/main">
              <a:ext uri="{FF2B5EF4-FFF2-40B4-BE49-F238E27FC236}">
                <a16:creationId xmlns:a16="http://schemas.microsoft.com/office/drawing/2014/main" id="{CF9C3384-16C1-4C8B-B245-A4AF6B842FC1}"/>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Notice → message →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c42956da024e40"/>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DC1124-C8A9-4B52-B8E1-DE27D6269082}"/>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Show A and B at the same size.</a:t>
            </a:r>
          </a:p>
        </p:txBody>
      </p:sp>
      <p:sp>
        <p:nvSpPr>
          <p:cNvPr id="5" name="">
            <a:extLst xmlns:a="http://schemas.openxmlformats.org/drawingml/2006/main">
              <a:ext uri="{FF2B5EF4-FFF2-40B4-BE49-F238E27FC236}">
                <a16:creationId xmlns:a16="http://schemas.microsoft.com/office/drawing/2014/main" id="{F5133BE9-2F17-4FB8-BC09-6565C13001B5}"/>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Record their actual words separately from your prediction.</a:t>
            </a:r>
          </a:p>
        </p:txBody>
      </p:sp>
      <p:sp>
        <p:nvSpPr>
          <p:cNvPr id="6" name="">
            <a:extLst xmlns:a="http://schemas.openxmlformats.org/drawingml/2006/main">
              <a:ext uri="{FF2B5EF4-FFF2-40B4-BE49-F238E27FC236}">
                <a16:creationId xmlns:a16="http://schemas.microsoft.com/office/drawing/2014/main" id="{EFFFF8A0-012B-464F-9C96-DE6048D63371}"/>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5D5BAF0B-3DD4-4513-8CE6-5C34E529AD35}"/>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10 / 12 · Original teaching model</a:t>
            </a:r>
          </a:p>
        </p:txBody>
      </p:sp>
    </p:spTree>
    <p:extLst>
      <p:ext uri="{BB962C8B-B14F-4D97-AF65-F5344CB8AC3E}">
        <p14:creationId xmlns:p14="http://schemas.microsoft.com/office/powerpoint/2010/main" val="1272708286"/>
      </p:ext>
    </p:extLst>
  </p:cSld>
</p:sld>
</file>

<file path=ppt/slides/slide1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29CCE2-1117-4150-9953-5458722629CA}"/>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Preserve the first idea and revise</a:t>
            </a:r>
          </a:p>
        </p:txBody>
      </p:sp>
      <p:sp>
        <p:nvSpPr>
          <p:cNvPr id="2" name="">
            <a:extLst xmlns:a="http://schemas.openxmlformats.org/drawingml/2006/main">
              <a:ext uri="{FF2B5EF4-FFF2-40B4-BE49-F238E27FC236}">
                <a16:creationId xmlns:a16="http://schemas.microsoft.com/office/drawing/2014/main" id="{8688E2F3-7FF0-4E90-95A0-441C80FE8751}"/>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One problem → one purposeful change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f27086477304546"/>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0024E3-98C4-4D38-BB8A-DAF5538C4A30}"/>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Keep A and B; duplicate the chosen direction.</a:t>
            </a:r>
          </a:p>
        </p:txBody>
      </p:sp>
      <p:sp>
        <p:nvSpPr>
          <p:cNvPr id="5" name="">
            <a:extLst xmlns:a="http://schemas.openxmlformats.org/drawingml/2006/main">
              <a:ext uri="{FF2B5EF4-FFF2-40B4-BE49-F238E27FC236}">
                <a16:creationId xmlns:a16="http://schemas.microsoft.com/office/drawing/2014/main" id="{7DDBC114-FBAF-4340-92D4-B9741C1C636B}"/>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Retest the change, then explain a tradeoff.</a:t>
            </a:r>
          </a:p>
        </p:txBody>
      </p:sp>
      <p:sp>
        <p:nvSpPr>
          <p:cNvPr id="6" name="">
            <a:extLst xmlns:a="http://schemas.openxmlformats.org/drawingml/2006/main">
              <a:ext uri="{FF2B5EF4-FFF2-40B4-BE49-F238E27FC236}">
                <a16:creationId xmlns:a16="http://schemas.microsoft.com/office/drawing/2014/main" id="{C5CB3A36-19C6-4E13-89C5-0AC907A213F7}"/>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Which feature would you change after feedback, and why?</a:t>
            </a:r>
          </a:p>
        </p:txBody>
      </p:sp>
      <p:sp>
        <p:nvSpPr>
          <p:cNvPr id="7" name="">
            <a:extLst xmlns:a="http://schemas.openxmlformats.org/drawingml/2006/main">
              <a:ext uri="{FF2B5EF4-FFF2-40B4-BE49-F238E27FC236}">
                <a16:creationId xmlns:a16="http://schemas.microsoft.com/office/drawing/2014/main" id="{63B7DE75-80AE-456C-B37D-C5C00252814C}"/>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11 / 12 · Original teaching model</a:t>
            </a:r>
          </a:p>
        </p:txBody>
      </p:sp>
    </p:spTree>
    <p:extLst>
      <p:ext uri="{BB962C8B-B14F-4D97-AF65-F5344CB8AC3E}">
        <p14:creationId xmlns:p14="http://schemas.microsoft.com/office/powerpoint/2010/main" val="1205254986"/>
      </p:ext>
    </p:extLst>
  </p:cSld>
</p:sld>
</file>

<file path=ppt/slides/slide1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21BF2B-846C-42FE-A165-8A9977A52643}"/>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Show the reasoning and the files</a:t>
            </a:r>
          </a:p>
        </p:txBody>
      </p:sp>
      <p:sp>
        <p:nvSpPr>
          <p:cNvPr id="2" name="">
            <a:extLst xmlns:a="http://schemas.openxmlformats.org/drawingml/2006/main">
              <a:ext uri="{FF2B5EF4-FFF2-40B4-BE49-F238E27FC236}">
                <a16:creationId xmlns:a16="http://schemas.microsoft.com/office/drawing/2014/main" id="{CE835B71-AE5B-4DFA-99DE-0C954BDEF985}"/>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Direction → alternatives → evidence → revision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1d7c21aa1ac4d5d"/>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892F3B-7246-44E7-918C-2C07721CA07A}"/>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Keep .excalidraw + PNG, a layered Photoshop PSD and review exports.</a:t>
            </a:r>
          </a:p>
        </p:txBody>
      </p:sp>
      <p:sp>
        <p:nvSpPr>
          <p:cNvPr id="5" name="">
            <a:extLst xmlns:a="http://schemas.openxmlformats.org/drawingml/2006/main">
              <a:ext uri="{FF2B5EF4-FFF2-40B4-BE49-F238E27FC236}">
                <a16:creationId xmlns:a16="http://schemas.microsoft.com/office/drawing/2014/main" id="{E35A13EE-A998-4ABA-B5CB-5A0A22DEE8D2}"/>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Browser disk-save/reopen and the native Photoshop workflow remain pending.</a:t>
            </a:r>
          </a:p>
        </p:txBody>
      </p:sp>
      <p:sp>
        <p:nvSpPr>
          <p:cNvPr id="6" name="">
            <a:extLst xmlns:a="http://schemas.openxmlformats.org/drawingml/2006/main">
              <a:ext uri="{FF2B5EF4-FFF2-40B4-BE49-F238E27FC236}">
                <a16:creationId xmlns:a16="http://schemas.microsoft.com/office/drawing/2014/main" id="{16B3892D-15E0-460B-AE47-B4EA23A31A0E}"/>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Evidence: A reader response + visible change; B completed steps; C file size. Explain.</a:t>
            </a:r>
          </a:p>
        </p:txBody>
      </p:sp>
      <p:sp>
        <p:nvSpPr>
          <p:cNvPr id="7" name="">
            <a:extLst xmlns:a="http://schemas.openxmlformats.org/drawingml/2006/main">
              <a:ext uri="{FF2B5EF4-FFF2-40B4-BE49-F238E27FC236}">
                <a16:creationId xmlns:a16="http://schemas.microsoft.com/office/drawing/2014/main" id="{4D110246-2FB6-4E57-BB75-45197434AA7E}"/>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12 / 12 · Original teaching model</a:t>
            </a:r>
          </a:p>
        </p:txBody>
      </p:sp>
    </p:spTree>
    <p:extLst>
      <p:ext uri="{BB962C8B-B14F-4D97-AF65-F5344CB8AC3E}">
        <p14:creationId xmlns:p14="http://schemas.microsoft.com/office/powerpoint/2010/main" val="1983249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2026-10-08T21:17:08.0550000Z</dcterms:created>
  <dcterms:modified xsi:type="dcterms:W3CDTF">2026-10-08T21:17:08.0550000Z</dcterms:modified>
</coreProperties>
</file>
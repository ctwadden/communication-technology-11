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cd3608bb954c7f" /><Relationship Type="http://schemas.openxmlformats.org/officeDocument/2006/relationships/extended-properties" Target="/docProps/app.xml" Id="Rbfff2a96db4b47d6" /><Relationship Type="http://schemas.openxmlformats.org/officeDocument/2006/relationships/officeDocument" Target="/ppt/presentation.xml" Id="R7dd9f9f7b7b04116" /></Relationships>
</file>

<file path=ppt/presentation.xml><?xml version="1.0" encoding="utf-8"?>
<p:presentation xmlns:p="http://schemas.openxmlformats.org/presentationml/2006/main">
  <p:sldMasterIdLst>
    <p:sldMasterId xmlns:r="http://schemas.openxmlformats.org/officeDocument/2006/relationships" id="2147483648" r:id="Rdad20b6171784e9a"/>
  </p:sldMasterIdLst>
  <p:notesMasterIdLst>
    <p:notesMasterId xmlns:r="http://schemas.openxmlformats.org/officeDocument/2006/relationships" r:id="R1442e425809c438f"/>
  </p:notesMasterIdLst>
  <p:sldIdLst>
    <p:sldId xmlns:r="http://schemas.openxmlformats.org/officeDocument/2006/relationships" id="256" r:id="R7980e694e9b04ea3"/>
    <p:sldId xmlns:r="http://schemas.openxmlformats.org/officeDocument/2006/relationships" id="257" r:id="Rc12da321295c43f9"/>
    <p:sldId xmlns:r="http://schemas.openxmlformats.org/officeDocument/2006/relationships" id="258" r:id="Re372f69b3f5c432e"/>
    <p:sldId xmlns:r="http://schemas.openxmlformats.org/officeDocument/2006/relationships" id="259" r:id="R6bd55f970830483c"/>
    <p:sldId xmlns:r="http://schemas.openxmlformats.org/officeDocument/2006/relationships" id="260" r:id="R38b60f5522794991"/>
    <p:sldId xmlns:r="http://schemas.openxmlformats.org/officeDocument/2006/relationships" id="261" r:id="R7d63ead9beb64405"/>
    <p:sldId xmlns:r="http://schemas.openxmlformats.org/officeDocument/2006/relationships" id="262" r:id="Re24ecaad883b43d0"/>
    <p:sldId xmlns:r="http://schemas.openxmlformats.org/officeDocument/2006/relationships" id="263" r:id="R04ebf358dd3344cc"/>
    <p:sldId xmlns:r="http://schemas.openxmlformats.org/officeDocument/2006/relationships" id="264" r:id="R6cfb143059e14847"/>
    <p:sldId xmlns:r="http://schemas.openxmlformats.org/officeDocument/2006/relationships" id="265" r:id="R5d1f23d320b741d4"/>
    <p:sldId xmlns:r="http://schemas.openxmlformats.org/officeDocument/2006/relationships" id="266" r:id="Rd4d9414b0d144128"/>
    <p:sldId xmlns:r="http://schemas.openxmlformats.org/officeDocument/2006/relationships" id="267" r:id="R200de21077704d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438d54dff74c2d" /><Relationship Type="http://schemas.openxmlformats.org/officeDocument/2006/relationships/slideMaster" Target="/ppt/slideMasters/slideMaster1.xml" Id="Rdad20b6171784e9a" /><Relationship Type="http://schemas.openxmlformats.org/officeDocument/2006/relationships/notesMaster" Target="/ppt/notesMasters/notesMaster1.xml" Id="R1442e425809c438f" /><Relationship Type="http://schemas.openxmlformats.org/officeDocument/2006/relationships/presProps" Target="/ppt/presProps.xml" Id="R13079d87eb8a4874" /><Relationship Type="http://schemas.openxmlformats.org/officeDocument/2006/relationships/tableStyles" Target="/ppt/tableStyles.xml" Id="R72c02edbe6a545bf" /><Relationship Type="http://schemas.openxmlformats.org/officeDocument/2006/relationships/slide" Target="/ppt/slides/slide1.xml" Id="R7980e694e9b04ea3" /><Relationship Type="http://schemas.openxmlformats.org/officeDocument/2006/relationships/slide" Target="/ppt/slides/slide2.xml" Id="Rc12da321295c43f9" /><Relationship Type="http://schemas.openxmlformats.org/officeDocument/2006/relationships/slide" Target="/ppt/slides/slide3.xml" Id="Re372f69b3f5c432e" /><Relationship Type="http://schemas.openxmlformats.org/officeDocument/2006/relationships/slide" Target="/ppt/slides/slide4.xml" Id="R6bd55f970830483c" /><Relationship Type="http://schemas.openxmlformats.org/officeDocument/2006/relationships/slide" Target="/ppt/slides/slide5.xml" Id="R38b60f5522794991" /><Relationship Type="http://schemas.openxmlformats.org/officeDocument/2006/relationships/slide" Target="/ppt/slides/slide6.xml" Id="R7d63ead9beb64405" /><Relationship Type="http://schemas.openxmlformats.org/officeDocument/2006/relationships/slide" Target="/ppt/slides/slide7.xml" Id="Re24ecaad883b43d0" /><Relationship Type="http://schemas.openxmlformats.org/officeDocument/2006/relationships/slide" Target="/ppt/slides/slide8.xml" Id="R04ebf358dd3344cc" /><Relationship Type="http://schemas.openxmlformats.org/officeDocument/2006/relationships/slide" Target="/ppt/slides/slide9.xml" Id="R6cfb143059e14847" /><Relationship Type="http://schemas.openxmlformats.org/officeDocument/2006/relationships/slide" Target="/ppt/slides/slide10.xml" Id="R5d1f23d320b741d4" /><Relationship Type="http://schemas.openxmlformats.org/officeDocument/2006/relationships/slide" Target="/ppt/slides/slide11.xml" Id="Rd4d9414b0d144128" /><Relationship Type="http://schemas.openxmlformats.org/officeDocument/2006/relationships/slide" Target="/ppt/slides/slide12.xml" Id="R200de21077704d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7318fec66748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d2698d8c9944e43" /><Relationship Type="http://schemas.openxmlformats.org/officeDocument/2006/relationships/notesMaster" Target="/ppt/notesMasters/notesMaster1.xml" Id="R25a3bd7d07c749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ce4ef0c4b754817" /><Relationship Type="http://schemas.openxmlformats.org/officeDocument/2006/relationships/notesMaster" Target="/ppt/notesMasters/notesMaster1.xml" Id="R8c4a3cf7e52c46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c1078c2e2e4073" /><Relationship Type="http://schemas.openxmlformats.org/officeDocument/2006/relationships/notesMaster" Target="/ppt/notesMasters/notesMaster1.xml" Id="R5684f0712eee42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a9018d24864dd3" /><Relationship Type="http://schemas.openxmlformats.org/officeDocument/2006/relationships/notesMaster" Target="/ppt/notesMasters/notesMaster1.xml" Id="R6a7887beca7245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a6dcec1e2b4ce3" /><Relationship Type="http://schemas.openxmlformats.org/officeDocument/2006/relationships/notesMaster" Target="/ppt/notesMasters/notesMaster1.xml" Id="R93077d89981341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95a30972ea94433c" /><Relationship Type="http://schemas.openxmlformats.org/officeDocument/2006/relationships/notesMaster" Target="/ppt/notesMasters/notesMaster1.xml" Id="Rb556e14a74fc45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9af1331fee84289" /><Relationship Type="http://schemas.openxmlformats.org/officeDocument/2006/relationships/notesMaster" Target="/ppt/notesMasters/notesMaster1.xml" Id="Rcbee1b9689ce40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c74917980b4cf5" /><Relationship Type="http://schemas.openxmlformats.org/officeDocument/2006/relationships/notesMaster" Target="/ppt/notesMasters/notesMaster1.xml" Id="R7882d13dcfee4f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b1442586ceb3484e" /><Relationship Type="http://schemas.openxmlformats.org/officeDocument/2006/relationships/notesMaster" Target="/ppt/notesMasters/notesMaster1.xml" Id="Rb64980846dd84a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864e1aba144de3" /><Relationship Type="http://schemas.openxmlformats.org/officeDocument/2006/relationships/notesMaster" Target="/ppt/notesMasters/notesMaster1.xml" Id="Rd329e24e8adf40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246092c971490e" /><Relationship Type="http://schemas.openxmlformats.org/officeDocument/2006/relationships/notesMaster" Target="/ppt/notesMasters/notesMaster1.xml" Id="R8a643f71e240457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061c4ada754063" /><Relationship Type="http://schemas.openxmlformats.org/officeDocument/2006/relationships/notesMaster" Target="/ppt/notesMasters/notesMaster1.xml" Id="R500155a7e96448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choosing pictures or fonts, identify a particular reader, viewing setting and next action. Those facts guide your design choices. Planning is visible reasoning, not a requirement to decorate a page. Our worked café material is constructed practice; your independent message must be real and approved. Write your audience and intended action in one sentence.</a:t>
            </a:r>
          </a:p>
          <a:p xmlns:a="http://schemas.openxmlformats.org/drawingml/2006/main">
            <a:r>
              <a:t/>
            </a:r>
          </a:p>
          <a:p xmlns:a="http://schemas.openxmlformats.org/drawingml/2006/main">
            <a:r>
              <a:t>Student task: Write: My audience is __. After viewing, I want them to __.</a:t>
            </a:r>
          </a:p>
          <a:p xmlns:a="http://schemas.openxmlformats.org/drawingml/2006/main">
            <a:r>
              <a:t>Source: https://helpx.adobe.com/photoshop/desktop/create-manage-layers/get-started-layers/use-artboards-to-lay-out-designs.html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mood board gathers a few purposeful references. It may show image treatment, a palette, typography and the tone you intend. Each reference should carry a reason tied to the brief. A board is useful when another person can tell you what the direction communicates. It is a proposal to discuss and test, not proof of an audience effect.</a:t>
            </a:r>
          </a:p>
          <a:p xmlns:a="http://schemas.openxmlformats.org/drawingml/2006/main">
            <a:r>
              <a:t/>
            </a:r>
          </a:p>
          <a:p xmlns:a="http://schemas.openxmlformats.org/drawingml/2006/main">
            <a:r>
              <a:t>Student task: Point to the visible feature and explain its purpose.</a:t>
            </a:r>
          </a:p>
          <a:p xmlns:a="http://schemas.openxmlformats.org/drawingml/2006/main">
            <a:r>
              <a:t>Source: https://blog.adobe.com/en/publish/2019/02/28/from-design-thinking-to-the-mood-boarding-6-commonly-used-design-processes-to-try-on-your-next-project</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Photoshop artboard is a named canvas inside one document. The mood board describes a visual direction; an artboard is the place you can put that board or a sketch. We will keep three named boards together. A layer holds an element inside a board. Selecting the board group matters when you change its size or add content.</a:t>
            </a:r>
          </a:p>
          <a:p xmlns:a="http://schemas.openxmlformats.org/drawingml/2006/main">
            <a:r>
              <a:t/>
            </a:r>
          </a:p>
          <a:p xmlns:a="http://schemas.openxmlformats.org/drawingml/2006/main">
            <a:r>
              <a:t>Student task: Point to the visible feature and explain its purpose.</a:t>
            </a:r>
          </a:p>
          <a:p xmlns:a="http://schemas.openxmlformats.org/drawingml/2006/main">
            <a:r>
              <a:t>Source: https://helpx.adobe.com/photoshop/desktop/create-manage-layers/get-started-layers/use-artboards-to-lay-out-designs.html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 the distinction individually. A palette, image references and type samples propose a direction. Boxes for headline, image, detail and action propose an arrangement. Photoshop artboards can hold either. Calling a mood board an artboard confuses the purpose of the content with the container. After answering, explain your choice in your own words.</a:t>
            </a:r>
          </a:p>
          <a:p xmlns:a="http://schemas.openxmlformats.org/drawingml/2006/main">
            <a:r>
              <a:t/>
            </a:r>
          </a:p>
          <a:p xmlns:a="http://schemas.openxmlformats.org/drawingml/2006/main">
            <a:r>
              <a:t>Student task: Choose: A direction/canvas; B final ad; C every layer. Explain.</a:t>
            </a:r>
          </a:p>
          <a:p xmlns:a="http://schemas.openxmlformats.org/drawingml/2006/main">
            <a:r>
              <a:t>Source: https://helpx.adobe.com/photoshop/desktop/create-manage-layers/get-started-layers/use-artboards-to-lay-out-designs.html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actual campaign images from the main teaching deck. Study the simplified directional mark in Follow the Arches, the image and action relationship in Recycle Me, and the expressive typography in the Public Theater example. A feature may inspire an original decision, or conflict with your intended tone. Credit the reference and explain the connection. Do not copy the brand or assume that a visible design proves audience effects. Your final ad needs original or permitted assets.</a:t>
            </a:r>
          </a:p>
          <a:p xmlns:a="http://schemas.openxmlformats.org/drawingml/2006/main">
            <a:r>
              <a:t/>
            </a:r>
          </a:p>
          <a:p xmlns:a="http://schemas.openxmlformats.org/drawingml/2006/main">
            <a:r>
              <a:t>Student task: Name one reference feature and explain why it might serve your reader.</a:t>
            </a:r>
          </a:p>
          <a:p xmlns:a="http://schemas.openxmlformats.org/drawingml/2006/main">
            <a:r>
              <a:t>Source: https://www.cossette.com/en/blog/__temp_axdccudsbhhoymknkaqplbxaujyfvicbzotm</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uses a cream ground, dark main words and a smaller terracotta accent. The roles explain what each colour does. A type sample should distinguish headline from supporting detail. Tie this to our colour wheel and typography lessons. A harmonious palette can still hide words, so test readability separately at the intended viewing size.</a:t>
            </a:r>
          </a:p>
          <a:p xmlns:a="http://schemas.openxmlformats.org/drawingml/2006/main">
            <a:r>
              <a:t/>
            </a:r>
          </a:p>
          <a:p xmlns:a="http://schemas.openxmlformats.org/drawingml/2006/main">
            <a:r>
              <a:t>Student task: Point to the visible feature and explain its purpose.</a:t>
            </a:r>
          </a:p>
          <a:p xmlns:a="http://schemas.openxmlformats.org/drawingml/2006/main">
            <a:r>
              <a:t>Source: https://helpx.adobe.com/photoshop/desktop/create-manage-layers/get-started-layers/use-artboards-to-lay-out-designs.html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genuine capture from our first setup attempt. Width became 1080, but the inherited height stayed 2400. The lesson is to read both pixel dimensions before and after creation. Resolution 72 PPI and RGB colour do not repair the wrong height. Our further native correction and screenshots are blocked by the locked Mac; your teacher must verify this live procedure before classroom use.</a:t>
            </a:r>
          </a:p>
          <a:p xmlns:a="http://schemas.openxmlformats.org/drawingml/2006/main">
            <a:r>
              <a:t/>
            </a:r>
          </a:p>
          <a:p xmlns:a="http://schemas.openxmlformats.org/drawingml/2006/main">
            <a:r>
              <a:t>Student task: Point to the visible feature and explain its purpose.</a:t>
            </a:r>
          </a:p>
          <a:p xmlns:a="http://schemas.openxmlformats.org/drawingml/2006/main">
            <a:r>
              <a:t>Source: https://helpx.adobe.com/photoshop/desktop/create-manage-layers/layout-design-tools/artboard-properties.html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Diagnose the actual mistake. A tall artboard was created because the height field did not change. The proposed repair is to select the artboard group and set its H property to 1350. That repair has not yet been captured or tested here. Changing a type layer or altering only PPI would not address this cause. Explain why your chosen repair targets the mismatch.</a:t>
            </a:r>
          </a:p>
          <a:p xmlns:a="http://schemas.openxmlformats.org/drawingml/2006/main">
            <a:r>
              <a:t/>
            </a:r>
          </a:p>
          <a:p xmlns:a="http://schemas.openxmlformats.org/drawingml/2006/main">
            <a:r>
              <a:t>Student task: Check: A artboard height; B text tracking; C PPI only. Explain.</a:t>
            </a:r>
          </a:p>
          <a:p xmlns:a="http://schemas.openxmlformats.org/drawingml/2006/main">
            <a:r>
              <a:t>Source: https://helpx.adobe.com/photoshop/desktop/create-manage-layers/layout-design-tools/artboard-properties.html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thumbnail is a low-cost layout hypothesis. Option A may lead with a headline, while B may lead with an image. Keep the same essential information and size so the comparison is meaningful. In Photoshop use editable shape and text layers, or import paper thumbnails. Do not begin with effects or detailed retouching. The question is whether the reader finds the message and action.</a:t>
            </a:r>
          </a:p>
          <a:p xmlns:a="http://schemas.openxmlformats.org/drawingml/2006/main">
            <a:r>
              <a:t/>
            </a:r>
          </a:p>
          <a:p xmlns:a="http://schemas.openxmlformats.org/drawingml/2006/main">
            <a:r>
              <a:t>Student task: Make A and B differ in hierarchy. Predict first → second → third for each.</a:t>
            </a:r>
          </a:p>
          <a:p xmlns:a="http://schemas.openxmlformats.org/drawingml/2006/main">
            <a:r>
              <a:t>Source: https://helpx.adobe.com/photoshop/desktop/create-manage-layers/get-started-layers/use-artboards-to-lay-out-designs.html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what the reader noticed first, what the message was, and what they would do next. Avoid telling them what you intended before they respond. Record what happened, even when it disagrees with your prediction. If you have no reader, label the record self-check. A fair comparison and honest observation provide a reason for a revision; invented praise does not.</a:t>
            </a:r>
          </a:p>
          <a:p xmlns:a="http://schemas.openxmlformats.org/drawingml/2006/main">
            <a:r>
              <a:t/>
            </a:r>
          </a:p>
          <a:p xmlns:a="http://schemas.openxmlformats.org/drawingml/2006/main">
            <a:r>
              <a:t>Student task: Point to the visible feature and explain its purpose.</a:t>
            </a:r>
          </a:p>
          <a:p xmlns:a="http://schemas.openxmlformats.org/drawingml/2006/main">
            <a:r>
              <a:t>Source: https://helpx.adobe.com/photoshop/desktop/create-manage-layers/get-started-layers/use-artboards-to-lay-out-designs.html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two initial sketches. Duplicate the direction you choose and change one feature connected to an observed problem. Retest with neutral questions. Explain the benefit and anything the change makes harder. If your teacher changes the audience or viewing setting, decide what you would retain and what you would change. The purpose is independent judgement, not copying the worked model.</a:t>
            </a:r>
          </a:p>
          <a:p xmlns:a="http://schemas.openxmlformats.org/drawingml/2006/main">
            <a:r>
              <a:t/>
            </a:r>
          </a:p>
          <a:p xmlns:a="http://schemas.openxmlformats.org/drawingml/2006/main">
            <a:r>
              <a:t>Student task: Which feature would you change after feedback, and why?</a:t>
            </a:r>
          </a:p>
          <a:p xmlns:a="http://schemas.openxmlformats.org/drawingml/2006/main">
            <a:r>
              <a:t>Source: https://helpx.adobe.com/photoshop/desktop/create-manage-layers/get-started-layers/use-artboards-to-lay-out-designs.html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planning submission should show a credited mood board, two different sketches, actual test notes and the reason for a revision. Retain the layered source and inspect exported boards. Our native save and reopen procedure has not yet been completed, so this remains a review draft. Tutorial completion is practice; your teacher reviews achievement through the design, explanation and response to a changed brief.</a:t>
            </a:r>
          </a:p>
          <a:p xmlns:a="http://schemas.openxmlformats.org/drawingml/2006/main">
            <a:r>
              <a:t/>
            </a:r>
          </a:p>
          <a:p xmlns:a="http://schemas.openxmlformats.org/drawingml/2006/main">
            <a:r>
              <a:t>Student task: Evidence: A reader response + visible change; B completed steps; C file size. Explain.</a:t>
            </a:r>
          </a:p>
          <a:p xmlns:a="http://schemas.openxmlformats.org/drawingml/2006/main">
            <a:r>
              <a:t>Source: https://helpx.adobe.com/photoshop/desktop/create-manage-layers/get-started-layers/use-artboards-to-lay-out-designs.html</a:t>
            </a:r>
          </a:p>
          <a:p xmlns:a="http://schemas.openxmlformats.org/drawingml/2006/main">
            <a:r>
              <a:t>Real campaign images: copyright remains with the credited owners. Concept diagrams are labelled teaching models; practice poster is constructed. Independent assessed answers and teacher brief are separate private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5fb93c62ba42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bf6a3369c54874" /><Relationship Type="http://schemas.openxmlformats.org/officeDocument/2006/relationships/slideLayout" Target="/ppt/slideLayouts/slideLayout1.xml" Id="R9e647674e61b43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647674e61b43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0b64cf586384cef" /><Relationship Type="http://schemas.openxmlformats.org/officeDocument/2006/relationships/image" Target="/ppt/media/image.png" Id="R067e9efffdc242a7" /><Relationship Type="http://schemas.openxmlformats.org/officeDocument/2006/relationships/notesSlide" Target="/ppt/notesSlides/notesSlide1.xml" Id="R4bef08b40c4b4e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bdee13b7f6d45a1" /><Relationship Type="http://schemas.openxmlformats.org/officeDocument/2006/relationships/image" Target="/ppt/media/image2.png" Id="Rbaa9fd1ea884420c" /><Relationship Type="http://schemas.openxmlformats.org/officeDocument/2006/relationships/notesSlide" Target="/ppt/notesSlides/notesSlide2.xml" Id="R27b2bd3fe02140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c5bf68c47f4772" /><Relationship Type="http://schemas.openxmlformats.org/officeDocument/2006/relationships/image" Target="/ppt/media/image3.png" Id="R976a6f1966c84d60" /><Relationship Type="http://schemas.openxmlformats.org/officeDocument/2006/relationships/notesSlide" Target="/ppt/notesSlides/notesSlide3.xml" Id="R081a6a93aace45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70772e6627f4b2d" /><Relationship Type="http://schemas.openxmlformats.org/officeDocument/2006/relationships/image" Target="/ppt/media/image4.png" Id="Rd9b8ac9619294da9" /><Relationship Type="http://schemas.openxmlformats.org/officeDocument/2006/relationships/notesSlide" Target="/ppt/notesSlides/notesSlide4.xml" Id="R6c366f5897074a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25fb24b9a234f7f" /><Relationship Type="http://schemas.openxmlformats.org/officeDocument/2006/relationships/image" Target="/ppt/media/image5.png" Id="Rda0a0d65b8674321" /><Relationship Type="http://schemas.openxmlformats.org/officeDocument/2006/relationships/notesSlide" Target="/ppt/notesSlides/notesSlide5.xml" Id="R1f85e0c53bcb48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064aed070fa4e3f" /><Relationship Type="http://schemas.openxmlformats.org/officeDocument/2006/relationships/image" Target="/ppt/media/image6.png" Id="Rcbfe444c39304254" /><Relationship Type="http://schemas.openxmlformats.org/officeDocument/2006/relationships/notesSlide" Target="/ppt/notesSlides/notesSlide6.xml" Id="Rd3e379f2d10946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2b7282f19f4054" /><Relationship Type="http://schemas.openxmlformats.org/officeDocument/2006/relationships/image" Target="/ppt/media/image.jpeg" Id="Rc80cf102029c47ad" /><Relationship Type="http://schemas.openxmlformats.org/officeDocument/2006/relationships/notesSlide" Target="/ppt/notesSlides/notesSlide7.xml" Id="Re4dbc1c95dd44f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bea00c3f10e4095" /><Relationship Type="http://schemas.openxmlformats.org/officeDocument/2006/relationships/image" Target="/ppt/media/image2.jpeg" Id="Raedbe759de4b4405" /><Relationship Type="http://schemas.openxmlformats.org/officeDocument/2006/relationships/notesSlide" Target="/ppt/notesSlides/notesSlide8.xml" Id="Re11a183bcd5d42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031f65740834927" /><Relationship Type="http://schemas.openxmlformats.org/officeDocument/2006/relationships/image" Target="/ppt/media/image7.png" Id="Rfb2a098380894431" /><Relationship Type="http://schemas.openxmlformats.org/officeDocument/2006/relationships/notesSlide" Target="/ppt/notesSlides/notesSlide9.xml" Id="R3ed56ec387614c5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528d67293954f0c" /><Relationship Type="http://schemas.openxmlformats.org/officeDocument/2006/relationships/image" Target="/ppt/media/image8.png" Id="Rd959558226604cdf" /><Relationship Type="http://schemas.openxmlformats.org/officeDocument/2006/relationships/notesSlide" Target="/ppt/notesSlides/notesSlide10.xml" Id="R5774ba0e62f840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e793939c5954f5c" /><Relationship Type="http://schemas.openxmlformats.org/officeDocument/2006/relationships/image" Target="/ppt/media/image9.png" Id="Rd399f471441e4d8f" /><Relationship Type="http://schemas.openxmlformats.org/officeDocument/2006/relationships/notesSlide" Target="/ppt/notesSlides/notesSlide11.xml" Id="R3355279f792a47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17bf317fc2f4950" /><Relationship Type="http://schemas.openxmlformats.org/officeDocument/2006/relationships/image" Target="/ppt/media/image10.png" Id="R3f12dcea03a94ee9" /><Relationship Type="http://schemas.openxmlformats.org/officeDocument/2006/relationships/notesSlide" Target="/ppt/notesSlides/notesSlide12.xml" Id="Re93aa8cb8633434b" /></Relationships>
</file>

<file path=ppt/slides/slide1.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0CBD19-9DD4-451E-9AC3-8DAE4A4B5326}"/>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Planning starts with the reader</a:t>
            </a:r>
          </a:p>
        </p:txBody>
      </p:sp>
      <p:sp>
        <p:nvSpPr>
          <p:cNvPr id="2" name="">
            <a:extLst xmlns:a="http://schemas.openxmlformats.org/drawingml/2006/main">
              <a:ext uri="{FF2B5EF4-FFF2-40B4-BE49-F238E27FC236}">
                <a16:creationId xmlns:a16="http://schemas.microsoft.com/office/drawing/2014/main" id="{FCE07D54-0CC3-463F-B54D-9B98E2FD877B}"/>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Audience → message →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67e9efffdc242a7"/>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926E8B9-E0A7-4B4B-9029-72A04920CDFB}"/>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State who will see the ad and what they should do.</a:t>
            </a:r>
          </a:p>
        </p:txBody>
      </p:sp>
      <p:sp>
        <p:nvSpPr>
          <p:cNvPr id="5" name="">
            <a:extLst xmlns:a="http://schemas.openxmlformats.org/drawingml/2006/main">
              <a:ext uri="{FF2B5EF4-FFF2-40B4-BE49-F238E27FC236}">
                <a16:creationId xmlns:a16="http://schemas.microsoft.com/office/drawing/2014/main" id="{859B6C2B-6645-4C29-8E98-2E69588C4B48}"/>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The independent ad uses an actual approved school/community message.</a:t>
            </a:r>
          </a:p>
        </p:txBody>
      </p:sp>
      <p:sp>
        <p:nvSpPr>
          <p:cNvPr id="6" name="">
            <a:extLst xmlns:a="http://schemas.openxmlformats.org/drawingml/2006/main">
              <a:ext uri="{FF2B5EF4-FFF2-40B4-BE49-F238E27FC236}">
                <a16:creationId xmlns:a16="http://schemas.microsoft.com/office/drawing/2014/main" id="{6162D2EA-67B3-47ED-A06E-6111F8918C2C}"/>
              </a:ext>
            </a:extLst>
          </p:cNvPr>
          <p:cNvSpPr>
            <a:spLocks xmlns:a="http://schemas.openxmlformats.org/drawingml/2006/main" noGrp="1"/>
          </p:cNvSpPr>
          <p:nvPr/>
        </p:nvSpPr>
        <p:spPr>
          <a:xfrm xmlns:a="http://schemas.openxmlformats.org/drawingml/2006/main">
            <a:off x="457200" y="542925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4518"/>
                </a:solidFill>
                <a:latin typeface="Helvetica Neue"/>
                <a:ea typeface="Helvetica Neue"/>
                <a:cs typeface="Helvetica Neue"/>
              </a:defRPr>
            </a:pPr>
            <a:r>
              <a:rPr sz="1800" b="1">
                <a:solidFill>
                  <a:srgbClr val="704518"/>
                </a:solidFill>
                <a:latin typeface="Helvetica Neue"/>
                <a:ea typeface="Helvetica Neue"/>
                <a:cs typeface="Helvetica Neue"/>
              </a:rPr>
              <a:t>Individual check: Write: My audience is __. After viewing, I want them to __.</a:t>
            </a:r>
          </a:p>
        </p:txBody>
      </p:sp>
      <p:sp>
        <p:nvSpPr>
          <p:cNvPr id="7" name="">
            <a:extLst xmlns:a="http://schemas.openxmlformats.org/drawingml/2006/main">
              <a:ext uri="{FF2B5EF4-FFF2-40B4-BE49-F238E27FC236}">
                <a16:creationId xmlns:a16="http://schemas.microsoft.com/office/drawing/2014/main" id="{C317B26B-4E91-4724-9886-CBD10E5C3CC1}"/>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01 / 12 · Original teaching model</a:t>
            </a:r>
          </a:p>
        </p:txBody>
      </p:sp>
    </p:spTree>
    <p:extLst>
      <p:ext uri="{BB962C8B-B14F-4D97-AF65-F5344CB8AC3E}">
        <p14:creationId xmlns:p14="http://schemas.microsoft.com/office/powerpoint/2010/main" val="1322368043"/>
      </p:ext>
    </p:extLst>
  </p:cSld>
</p:sld>
</file>

<file path=ppt/slides/slide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E617FC-8CAC-447D-8CE5-21364AABFA19}"/>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A mood board proposes a direction</a:t>
            </a:r>
          </a:p>
        </p:txBody>
      </p:sp>
      <p:sp>
        <p:nvSpPr>
          <p:cNvPr id="2" name="">
            <a:extLst xmlns:a="http://schemas.openxmlformats.org/drawingml/2006/main">
              <a:ext uri="{FF2B5EF4-FFF2-40B4-BE49-F238E27FC236}">
                <a16:creationId xmlns:a16="http://schemas.microsoft.com/office/drawing/2014/main" id="{E8D3DFF2-D21E-4BF9-BF9E-316F4D438476}"/>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Images + colour + type + tone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aa9fd1ea884420c"/>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67E56F9-CAB1-4F9C-B6FB-12F4C8E006F4}"/>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Curate references and explain their purpose.</a:t>
            </a:r>
          </a:p>
        </p:txBody>
      </p:sp>
      <p:sp>
        <p:nvSpPr>
          <p:cNvPr id="5" name="">
            <a:extLst xmlns:a="http://schemas.openxmlformats.org/drawingml/2006/main">
              <a:ext uri="{FF2B5EF4-FFF2-40B4-BE49-F238E27FC236}">
                <a16:creationId xmlns:a16="http://schemas.microsoft.com/office/drawing/2014/main" id="{F89AFC5A-A2DF-4CEB-9D50-FEC239FFE41A}"/>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A board should help someone discuss the proposed direction.</a:t>
            </a:r>
          </a:p>
        </p:txBody>
      </p:sp>
      <p:sp>
        <p:nvSpPr>
          <p:cNvPr id="6" name="">
            <a:extLst xmlns:a="http://schemas.openxmlformats.org/drawingml/2006/main">
              <a:ext uri="{FF2B5EF4-FFF2-40B4-BE49-F238E27FC236}">
                <a16:creationId xmlns:a16="http://schemas.microsoft.com/office/drawing/2014/main" id="{431E4805-27CD-4AB2-938B-185DFE8E43A4}"/>
              </a:ext>
            </a:extLst>
          </p:cNvPr>
          <p:cNvSpPr>
            <a:spLocks xmlns:a="http://schemas.openxmlformats.org/drawingml/2006/main" noGrp="1"/>
          </p:cNvSpPr>
          <p:nvPr/>
        </p:nvSpPr>
        <p:spPr>
          <a:xfrm xmlns:a="http://schemas.openxmlformats.org/drawingml/2006/main">
            <a:off x="457200" y="5562600"/>
            <a:ext cx="11277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56068"/>
                </a:solidFill>
                <a:latin typeface="Helvetica Neue"/>
                <a:ea typeface="Helvetica Neue"/>
                <a:cs typeface="Helvetica Neue"/>
              </a:defRPr>
            </a:pPr>
            <a:r>
              <a:rPr sz="1800" b="0">
                <a:solidFill>
                  <a:srgbClr val="056068"/>
                </a:solidFill>
                <a:latin typeface="Helvetica Neue"/>
                <a:ea typeface="Helvetica Neue"/>
                <a:cs typeface="Helvetica Neue"/>
              </a:rPr>
              <a:t>Explain: visible feature → concept → purpose</a:t>
            </a:r>
          </a:p>
        </p:txBody>
      </p:sp>
      <p:sp>
        <p:nvSpPr>
          <p:cNvPr id="7" name="">
            <a:extLst xmlns:a="http://schemas.openxmlformats.org/drawingml/2006/main">
              <a:ext uri="{FF2B5EF4-FFF2-40B4-BE49-F238E27FC236}">
                <a16:creationId xmlns:a16="http://schemas.microsoft.com/office/drawing/2014/main" id="{C82B5CA0-F860-404D-B4BB-D12AC1D112BD}"/>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02 / 12 · Adobe mood boarding; original model</a:t>
            </a:r>
          </a:p>
        </p:txBody>
      </p:sp>
    </p:spTree>
    <p:extLst>
      <p:ext uri="{BB962C8B-B14F-4D97-AF65-F5344CB8AC3E}">
        <p14:creationId xmlns:p14="http://schemas.microsoft.com/office/powerpoint/2010/main" val="1188129146"/>
      </p:ext>
    </p:extLst>
  </p:cSld>
</p:sld>
</file>

<file path=ppt/slides/slide3.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EB9140-D107-45B9-BF67-A0843950AF35}"/>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An artboard is a canvas inside the file</a:t>
            </a:r>
          </a:p>
        </p:txBody>
      </p:sp>
      <p:sp>
        <p:nvSpPr>
          <p:cNvPr id="2" name="">
            <a:extLst xmlns:a="http://schemas.openxmlformats.org/drawingml/2006/main">
              <a:ext uri="{FF2B5EF4-FFF2-40B4-BE49-F238E27FC236}">
                <a16:creationId xmlns:a16="http://schemas.microsoft.com/office/drawing/2014/main" id="{E9755820-A35F-4CBF-B12E-E0E787C35D04}"/>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One Photoshop document, several layouts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76a6f1966c84d60"/>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33F1183-1427-445A-B4BA-3F1638B7E805}"/>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Keep mood, option A and option B together.</a:t>
            </a:r>
          </a:p>
        </p:txBody>
      </p:sp>
      <p:sp>
        <p:nvSpPr>
          <p:cNvPr id="5" name="">
            <a:extLst xmlns:a="http://schemas.openxmlformats.org/drawingml/2006/main">
              <a:ext uri="{FF2B5EF4-FFF2-40B4-BE49-F238E27FC236}">
                <a16:creationId xmlns:a16="http://schemas.microsoft.com/office/drawing/2014/main" id="{23FFEE7A-049D-4FA0-8BC3-40A8A9598E47}"/>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Artboards contain their own layers and clip content at their edges.</a:t>
            </a:r>
          </a:p>
        </p:txBody>
      </p:sp>
      <p:sp>
        <p:nvSpPr>
          <p:cNvPr id="6" name="">
            <a:extLst xmlns:a="http://schemas.openxmlformats.org/drawingml/2006/main">
              <a:ext uri="{FF2B5EF4-FFF2-40B4-BE49-F238E27FC236}">
                <a16:creationId xmlns:a16="http://schemas.microsoft.com/office/drawing/2014/main" id="{ACAA93AB-B5B7-473D-9391-294B6140F1D3}"/>
              </a:ext>
            </a:extLst>
          </p:cNvPr>
          <p:cNvSpPr>
            <a:spLocks xmlns:a="http://schemas.openxmlformats.org/drawingml/2006/main" noGrp="1"/>
          </p:cNvSpPr>
          <p:nvPr/>
        </p:nvSpPr>
        <p:spPr>
          <a:xfrm xmlns:a="http://schemas.openxmlformats.org/drawingml/2006/main">
            <a:off x="457200" y="5562600"/>
            <a:ext cx="11277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56068"/>
                </a:solidFill>
                <a:latin typeface="Helvetica Neue"/>
                <a:ea typeface="Helvetica Neue"/>
                <a:cs typeface="Helvetica Neue"/>
              </a:defRPr>
            </a:pPr>
            <a:r>
              <a:rPr sz="1800" b="0">
                <a:solidFill>
                  <a:srgbClr val="056068"/>
                </a:solidFill>
                <a:latin typeface="Helvetica Neue"/>
                <a:ea typeface="Helvetica Neue"/>
                <a:cs typeface="Helvetica Neue"/>
              </a:rPr>
              <a:t>Explain: visible feature → concept → purpose</a:t>
            </a:r>
          </a:p>
        </p:txBody>
      </p:sp>
      <p:sp>
        <p:nvSpPr>
          <p:cNvPr id="7" name="">
            <a:extLst xmlns:a="http://schemas.openxmlformats.org/drawingml/2006/main">
              <a:ext uri="{FF2B5EF4-FFF2-40B4-BE49-F238E27FC236}">
                <a16:creationId xmlns:a16="http://schemas.microsoft.com/office/drawing/2014/main" id="{6EB9436F-A90F-4BD8-96E7-0F0B5C3E865D}"/>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03 / 12 · Adobe artboards; original layout models</a:t>
            </a:r>
          </a:p>
        </p:txBody>
      </p:sp>
    </p:spTree>
    <p:extLst>
      <p:ext uri="{BB962C8B-B14F-4D97-AF65-F5344CB8AC3E}">
        <p14:creationId xmlns:p14="http://schemas.microsoft.com/office/powerpoint/2010/main" val="17576978"/>
      </p:ext>
    </p:extLst>
  </p:cSld>
</p:sld>
</file>

<file path=ppt/slides/slide4.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E1BD4CF-40D5-4746-BC1D-334447F2D6CF}"/>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Explain the difference</a:t>
            </a:r>
          </a:p>
        </p:txBody>
      </p:sp>
      <p:sp>
        <p:nvSpPr>
          <p:cNvPr id="2" name="">
            <a:extLst xmlns:a="http://schemas.openxmlformats.org/drawingml/2006/main">
              <a:ext uri="{FF2B5EF4-FFF2-40B4-BE49-F238E27FC236}">
                <a16:creationId xmlns:a16="http://schemas.microsoft.com/office/drawing/2014/main" id="{45E9A53B-1CF7-4BEC-8A16-66F2F62EEC31}"/>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Direction and arrangement answer different questions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9b8ac9619294da9"/>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70A470A-A100-424E-BBC2-95CBCFD66E50}"/>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Mood: what should it feel like? Sketch: where does information go?</a:t>
            </a:r>
          </a:p>
        </p:txBody>
      </p:sp>
      <p:sp>
        <p:nvSpPr>
          <p:cNvPr id="5" name="">
            <a:extLst xmlns:a="http://schemas.openxmlformats.org/drawingml/2006/main">
              <a:ext uri="{FF2B5EF4-FFF2-40B4-BE49-F238E27FC236}">
                <a16:creationId xmlns:a16="http://schemas.microsoft.com/office/drawing/2014/main" id="{7DD63931-089D-49E1-A5BF-F6BC4C2EEF68}"/>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You can create both on artboards.</a:t>
            </a:r>
          </a:p>
        </p:txBody>
      </p:sp>
      <p:sp>
        <p:nvSpPr>
          <p:cNvPr id="6" name="">
            <a:extLst xmlns:a="http://schemas.openxmlformats.org/drawingml/2006/main">
              <a:ext uri="{FF2B5EF4-FFF2-40B4-BE49-F238E27FC236}">
                <a16:creationId xmlns:a16="http://schemas.microsoft.com/office/drawing/2014/main" id="{DE23D0BF-EDD6-4D34-9699-0A8104EC50E5}"/>
              </a:ext>
            </a:extLst>
          </p:cNvPr>
          <p:cNvSpPr>
            <a:spLocks xmlns:a="http://schemas.openxmlformats.org/drawingml/2006/main" noGrp="1"/>
          </p:cNvSpPr>
          <p:nvPr/>
        </p:nvSpPr>
        <p:spPr>
          <a:xfrm xmlns:a="http://schemas.openxmlformats.org/drawingml/2006/main">
            <a:off x="457200" y="542925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4518"/>
                </a:solidFill>
                <a:latin typeface="Helvetica Neue"/>
                <a:ea typeface="Helvetica Neue"/>
                <a:cs typeface="Helvetica Neue"/>
              </a:defRPr>
            </a:pPr>
            <a:r>
              <a:rPr sz="1800" b="1">
                <a:solidFill>
                  <a:srgbClr val="704518"/>
                </a:solidFill>
                <a:latin typeface="Helvetica Neue"/>
                <a:ea typeface="Helvetica Neue"/>
                <a:cs typeface="Helvetica Neue"/>
              </a:rPr>
              <a:t>Individual check: Choose: A direction/canvas; B final ad; C every layer. Explain.</a:t>
            </a:r>
          </a:p>
        </p:txBody>
      </p:sp>
      <p:sp>
        <p:nvSpPr>
          <p:cNvPr id="7" name="">
            <a:extLst xmlns:a="http://schemas.openxmlformats.org/drawingml/2006/main">
              <a:ext uri="{FF2B5EF4-FFF2-40B4-BE49-F238E27FC236}">
                <a16:creationId xmlns:a16="http://schemas.microsoft.com/office/drawing/2014/main" id="{C6175F7D-C40C-4B3C-A2B3-9253D7ABC079}"/>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04 / 12 · Original teaching model</a:t>
            </a:r>
          </a:p>
        </p:txBody>
      </p:sp>
    </p:spTree>
    <p:extLst>
      <p:ext uri="{BB962C8B-B14F-4D97-AF65-F5344CB8AC3E}">
        <p14:creationId xmlns:p14="http://schemas.microsoft.com/office/powerpoint/2010/main" val="683048158"/>
      </p:ext>
    </p:extLst>
  </p:cSld>
</p:sld>
</file>

<file path=ppt/slides/slide5.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5FE6610-062F-420F-A86A-1E09B115C7CA}"/>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Translate a reference into a choice</a:t>
            </a:r>
          </a:p>
        </p:txBody>
      </p:sp>
      <p:sp>
        <p:nvSpPr>
          <p:cNvPr id="2" name="">
            <a:extLst xmlns:a="http://schemas.openxmlformats.org/drawingml/2006/main">
              <a:ext uri="{FF2B5EF4-FFF2-40B4-BE49-F238E27FC236}">
                <a16:creationId xmlns:a16="http://schemas.microsoft.com/office/drawing/2014/main" id="{6E7CF5C7-11E2-4CE1-B87C-F8703DD92048}"/>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Visible feature → idea → reason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a0a0d65b8674321"/>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4BCDE9F-9070-4173-9DC5-3718DAEE601C}"/>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Study one feature; design an original response.</a:t>
            </a:r>
          </a:p>
        </p:txBody>
      </p:sp>
      <p:sp>
        <p:nvSpPr>
          <p:cNvPr id="5" name="">
            <a:extLst xmlns:a="http://schemas.openxmlformats.org/drawingml/2006/main">
              <a:ext uri="{FF2B5EF4-FFF2-40B4-BE49-F238E27FC236}">
                <a16:creationId xmlns:a16="http://schemas.microsoft.com/office/drawing/2014/main" id="{7A9A7499-5B09-439B-8814-81040568D671}"/>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Record creator/source and permission.</a:t>
            </a:r>
          </a:p>
        </p:txBody>
      </p:sp>
      <p:sp>
        <p:nvSpPr>
          <p:cNvPr id="6" name="">
            <a:extLst xmlns:a="http://schemas.openxmlformats.org/drawingml/2006/main">
              <a:ext uri="{FF2B5EF4-FFF2-40B4-BE49-F238E27FC236}">
                <a16:creationId xmlns:a16="http://schemas.microsoft.com/office/drawing/2014/main" id="{123E54C0-7892-4239-9EBF-F64B2FCFFE66}"/>
              </a:ext>
            </a:extLst>
          </p:cNvPr>
          <p:cNvSpPr>
            <a:spLocks xmlns:a="http://schemas.openxmlformats.org/drawingml/2006/main" noGrp="1"/>
          </p:cNvSpPr>
          <p:nvPr/>
        </p:nvSpPr>
        <p:spPr>
          <a:xfrm xmlns:a="http://schemas.openxmlformats.org/drawingml/2006/main">
            <a:off x="457200" y="542925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4518"/>
                </a:solidFill>
                <a:latin typeface="Helvetica Neue"/>
                <a:ea typeface="Helvetica Neue"/>
                <a:cs typeface="Helvetica Neue"/>
              </a:defRPr>
            </a:pPr>
            <a:r>
              <a:rPr sz="1800" b="1">
                <a:solidFill>
                  <a:srgbClr val="704518"/>
                </a:solidFill>
                <a:latin typeface="Helvetica Neue"/>
                <a:ea typeface="Helvetica Neue"/>
                <a:cs typeface="Helvetica Neue"/>
              </a:rPr>
              <a:t>Individual check: Name one reference feature and explain why it might serve your reader.</a:t>
            </a:r>
          </a:p>
        </p:txBody>
      </p:sp>
      <p:sp>
        <p:nvSpPr>
          <p:cNvPr id="7" name="">
            <a:extLst xmlns:a="http://schemas.openxmlformats.org/drawingml/2006/main">
              <a:ext uri="{FF2B5EF4-FFF2-40B4-BE49-F238E27FC236}">
                <a16:creationId xmlns:a16="http://schemas.microsoft.com/office/drawing/2014/main" id="{F23C5DBC-882D-4481-B0AD-825D2CDD5D3B}"/>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05 / 12 · Actual campaigns: Cossette / Ogilvy / Pentagram</a:t>
            </a:r>
          </a:p>
        </p:txBody>
      </p:sp>
    </p:spTree>
    <p:extLst>
      <p:ext uri="{BB962C8B-B14F-4D97-AF65-F5344CB8AC3E}">
        <p14:creationId xmlns:p14="http://schemas.microsoft.com/office/powerpoint/2010/main" val="382759550"/>
      </p:ext>
    </p:extLst>
  </p:cSld>
</p:sld>
</file>

<file path=ppt/slides/slide6.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B3118F-128E-4CD1-AAF6-6313C3A1BF26}"/>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Give colour and type clear roles</a:t>
            </a:r>
          </a:p>
        </p:txBody>
      </p:sp>
      <p:sp>
        <p:nvSpPr>
          <p:cNvPr id="2" name="">
            <a:extLst xmlns:a="http://schemas.openxmlformats.org/drawingml/2006/main">
              <a:ext uri="{FF2B5EF4-FFF2-40B4-BE49-F238E27FC236}">
                <a16:creationId xmlns:a16="http://schemas.microsoft.com/office/drawing/2014/main" id="{DDDD356B-CC92-4F13-80F7-6525033617FF}"/>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Background · message · accent</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bfe444c39304254"/>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7DFEFBB-6EB5-4212-93A2-AB1B1C9EE9A8}"/>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Annotate roles instead of listing favourites.</a:t>
            </a:r>
          </a:p>
        </p:txBody>
      </p:sp>
      <p:sp>
        <p:nvSpPr>
          <p:cNvPr id="5" name="">
            <a:extLst xmlns:a="http://schemas.openxmlformats.org/drawingml/2006/main">
              <a:ext uri="{FF2B5EF4-FFF2-40B4-BE49-F238E27FC236}">
                <a16:creationId xmlns:a16="http://schemas.microsoft.com/office/drawing/2014/main" id="{31E8BF6A-BBE6-47F2-8F30-F131466F62CC}"/>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Keep words readable; the palette label does not prove contrast.</a:t>
            </a:r>
          </a:p>
        </p:txBody>
      </p:sp>
      <p:sp>
        <p:nvSpPr>
          <p:cNvPr id="6" name="">
            <a:extLst xmlns:a="http://schemas.openxmlformats.org/drawingml/2006/main">
              <a:ext uri="{FF2B5EF4-FFF2-40B4-BE49-F238E27FC236}">
                <a16:creationId xmlns:a16="http://schemas.microsoft.com/office/drawing/2014/main" id="{F2A1B20B-EDD6-45D4-B32C-3AC7A7F13EC7}"/>
              </a:ext>
            </a:extLst>
          </p:cNvPr>
          <p:cNvSpPr>
            <a:spLocks xmlns:a="http://schemas.openxmlformats.org/drawingml/2006/main" noGrp="1"/>
          </p:cNvSpPr>
          <p:nvPr/>
        </p:nvSpPr>
        <p:spPr>
          <a:xfrm xmlns:a="http://schemas.openxmlformats.org/drawingml/2006/main">
            <a:off x="457200" y="5562600"/>
            <a:ext cx="11277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56068"/>
                </a:solidFill>
                <a:latin typeface="Helvetica Neue"/>
                <a:ea typeface="Helvetica Neue"/>
                <a:cs typeface="Helvetica Neue"/>
              </a:defRPr>
            </a:pPr>
            <a:r>
              <a:rPr sz="1800" b="0">
                <a:solidFill>
                  <a:srgbClr val="056068"/>
                </a:solidFill>
                <a:latin typeface="Helvetica Neue"/>
                <a:ea typeface="Helvetica Neue"/>
                <a:cs typeface="Helvetica Neue"/>
              </a:rPr>
              <a:t>Explain: visible feature → concept → purpose</a:t>
            </a:r>
          </a:p>
        </p:txBody>
      </p:sp>
      <p:sp>
        <p:nvSpPr>
          <p:cNvPr id="7" name="">
            <a:extLst xmlns:a="http://schemas.openxmlformats.org/drawingml/2006/main">
              <a:ext uri="{FF2B5EF4-FFF2-40B4-BE49-F238E27FC236}">
                <a16:creationId xmlns:a16="http://schemas.microsoft.com/office/drawing/2014/main" id="{DFBCD504-6749-4E84-957D-F71323CD433D}"/>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06 / 12 · Original teaching model</a:t>
            </a:r>
          </a:p>
        </p:txBody>
      </p:sp>
    </p:spTree>
    <p:extLst>
      <p:ext uri="{BB962C8B-B14F-4D97-AF65-F5344CB8AC3E}">
        <p14:creationId xmlns:p14="http://schemas.microsoft.com/office/powerpoint/2010/main" val="465688139"/>
      </p:ext>
    </p:extLst>
  </p:cSld>
</p:sld>
</file>

<file path=ppt/slides/slide7.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11A312-F5DF-416B-867A-09D8047E577B}"/>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Check both artboard dimensions</a:t>
            </a:r>
          </a:p>
        </p:txBody>
      </p:sp>
      <p:sp>
        <p:nvSpPr>
          <p:cNvPr id="2" name="">
            <a:extLst xmlns:a="http://schemas.openxmlformats.org/drawingml/2006/main">
              <a:ext uri="{FF2B5EF4-FFF2-40B4-BE49-F238E27FC236}">
                <a16:creationId xmlns:a16="http://schemas.microsoft.com/office/drawing/2014/main" id="{D91F7266-3703-4781-B9B0-73D19374BBC4}"/>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1080 × 1350 px for this digital practice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80cf102029c47ad"/>
          <a:stretch xmlns:a="http://schemas.openxmlformats.org/drawingml/2006/main"/>
        </p:blipFill>
        <p:spPr>
          <a:xfrm xmlns:a="http://schemas.openxmlformats.org/drawingml/2006/main">
            <a:off x="826217" y="2105025"/>
            <a:ext cx="6424766" cy="3238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6475365-75C5-4079-9E93-72B5702FA942}"/>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Use File → New, with Artboards enabled.</a:t>
            </a:r>
          </a:p>
        </p:txBody>
      </p:sp>
      <p:sp>
        <p:nvSpPr>
          <p:cNvPr id="5" name="">
            <a:extLst xmlns:a="http://schemas.openxmlformats.org/drawingml/2006/main">
              <a:ext uri="{FF2B5EF4-FFF2-40B4-BE49-F238E27FC236}">
                <a16:creationId xmlns:a16="http://schemas.microsoft.com/office/drawing/2014/main" id="{3EF36631-CE61-4469-B870-E37787BADC7F}"/>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Genuine capture shows an incorrect inherited H 2400. Correction is pending.</a:t>
            </a:r>
          </a:p>
        </p:txBody>
      </p:sp>
      <p:sp>
        <p:nvSpPr>
          <p:cNvPr id="6" name="">
            <a:extLst xmlns:a="http://schemas.openxmlformats.org/drawingml/2006/main">
              <a:ext uri="{FF2B5EF4-FFF2-40B4-BE49-F238E27FC236}">
                <a16:creationId xmlns:a16="http://schemas.microsoft.com/office/drawing/2014/main" id="{6D77E194-D445-4997-9CF6-6CC803DFB681}"/>
              </a:ext>
            </a:extLst>
          </p:cNvPr>
          <p:cNvSpPr>
            <a:spLocks xmlns:a="http://schemas.openxmlformats.org/drawingml/2006/main" noGrp="1"/>
          </p:cNvSpPr>
          <p:nvPr/>
        </p:nvSpPr>
        <p:spPr>
          <a:xfrm xmlns:a="http://schemas.openxmlformats.org/drawingml/2006/main">
            <a:off x="457200" y="5562600"/>
            <a:ext cx="11277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56068"/>
                </a:solidFill>
                <a:latin typeface="Helvetica Neue"/>
                <a:ea typeface="Helvetica Neue"/>
                <a:cs typeface="Helvetica Neue"/>
              </a:defRPr>
            </a:pPr>
            <a:r>
              <a:rPr sz="1800" b="0">
                <a:solidFill>
                  <a:srgbClr val="056068"/>
                </a:solidFill>
                <a:latin typeface="Helvetica Neue"/>
                <a:ea typeface="Helvetica Neue"/>
                <a:cs typeface="Helvetica Neue"/>
              </a:rPr>
              <a:t>Explain: visible feature → concept → purpose</a:t>
            </a:r>
          </a:p>
        </p:txBody>
      </p:sp>
      <p:sp>
        <p:nvSpPr>
          <p:cNvPr id="7" name="">
            <a:extLst xmlns:a="http://schemas.openxmlformats.org/drawingml/2006/main">
              <a:ext uri="{FF2B5EF4-FFF2-40B4-BE49-F238E27FC236}">
                <a16:creationId xmlns:a16="http://schemas.microsoft.com/office/drawing/2014/main" id="{7BBF36A6-B5F9-43AA-AAF7-E0E61725A9C5}"/>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07 / 12 · Genuine local Photoshop capture; Adobe properties</a:t>
            </a:r>
          </a:p>
        </p:txBody>
      </p:sp>
    </p:spTree>
    <p:extLst>
      <p:ext uri="{BB962C8B-B14F-4D97-AF65-F5344CB8AC3E}">
        <p14:creationId xmlns:p14="http://schemas.microsoft.com/office/powerpoint/2010/main" val="525590308"/>
      </p:ext>
    </p:extLst>
  </p:cSld>
</p:sld>
</file>

<file path=ppt/slides/slide8.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F17074-09D4-4F0A-A049-24AE415987CE}"/>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Diagnose the setup mistake</a:t>
            </a:r>
          </a:p>
        </p:txBody>
      </p:sp>
      <p:sp>
        <p:nvSpPr>
          <p:cNvPr id="2" name="">
            <a:extLst xmlns:a="http://schemas.openxmlformats.org/drawingml/2006/main">
              <a:ext uri="{FF2B5EF4-FFF2-40B4-BE49-F238E27FC236}">
                <a16:creationId xmlns:a16="http://schemas.microsoft.com/office/drawing/2014/main" id="{85BF4040-200F-42C2-B4E9-4B1976E3DAE1}"/>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Read the values, then target the cause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edbe759de4b4405"/>
          <a:stretch xmlns:a="http://schemas.openxmlformats.org/drawingml/2006/main"/>
        </p:blipFill>
        <p:spPr>
          <a:xfrm xmlns:a="http://schemas.openxmlformats.org/drawingml/2006/main">
            <a:off x="826217" y="2105025"/>
            <a:ext cx="6424766" cy="3238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D974ACC-E371-49C7-98AD-2F219F535FB3}"/>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The requested frame is 1080 × 1350.</a:t>
            </a:r>
          </a:p>
        </p:txBody>
      </p:sp>
      <p:sp>
        <p:nvSpPr>
          <p:cNvPr id="5" name="">
            <a:extLst xmlns:a="http://schemas.openxmlformats.org/drawingml/2006/main">
              <a:ext uri="{FF2B5EF4-FFF2-40B4-BE49-F238E27FC236}">
                <a16:creationId xmlns:a16="http://schemas.microsoft.com/office/drawing/2014/main" id="{E0F33D82-263B-491E-8256-2CF86B0D3C98}"/>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Select the artboard; inspect W and H in Properties.</a:t>
            </a:r>
          </a:p>
        </p:txBody>
      </p:sp>
      <p:sp>
        <p:nvSpPr>
          <p:cNvPr id="6" name="">
            <a:extLst xmlns:a="http://schemas.openxmlformats.org/drawingml/2006/main">
              <a:ext uri="{FF2B5EF4-FFF2-40B4-BE49-F238E27FC236}">
                <a16:creationId xmlns:a16="http://schemas.microsoft.com/office/drawing/2014/main" id="{189331FD-AC80-49B9-977B-5A049B200A77}"/>
              </a:ext>
            </a:extLst>
          </p:cNvPr>
          <p:cNvSpPr>
            <a:spLocks xmlns:a="http://schemas.openxmlformats.org/drawingml/2006/main" noGrp="1"/>
          </p:cNvSpPr>
          <p:nvPr/>
        </p:nvSpPr>
        <p:spPr>
          <a:xfrm xmlns:a="http://schemas.openxmlformats.org/drawingml/2006/main">
            <a:off x="457200" y="542925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4518"/>
                </a:solidFill>
                <a:latin typeface="Helvetica Neue"/>
                <a:ea typeface="Helvetica Neue"/>
                <a:cs typeface="Helvetica Neue"/>
              </a:defRPr>
            </a:pPr>
            <a:r>
              <a:rPr sz="1800" b="1">
                <a:solidFill>
                  <a:srgbClr val="704518"/>
                </a:solidFill>
                <a:latin typeface="Helvetica Neue"/>
                <a:ea typeface="Helvetica Neue"/>
                <a:cs typeface="Helvetica Neue"/>
              </a:rPr>
              <a:t>Individual check: Check: A artboard height; B text tracking; C PPI only. Explain.</a:t>
            </a:r>
          </a:p>
        </p:txBody>
      </p:sp>
      <p:sp>
        <p:nvSpPr>
          <p:cNvPr id="7" name="">
            <a:extLst xmlns:a="http://schemas.openxmlformats.org/drawingml/2006/main">
              <a:ext uri="{FF2B5EF4-FFF2-40B4-BE49-F238E27FC236}">
                <a16:creationId xmlns:a16="http://schemas.microsoft.com/office/drawing/2014/main" id="{8DCFAD2A-E5B1-4FCA-A31D-E8A3A85AD124}"/>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08 / 12 · Observed local mistake; Adobe properties</a:t>
            </a:r>
          </a:p>
        </p:txBody>
      </p:sp>
    </p:spTree>
    <p:extLst>
      <p:ext uri="{BB962C8B-B14F-4D97-AF65-F5344CB8AC3E}">
        <p14:creationId xmlns:p14="http://schemas.microsoft.com/office/powerpoint/2010/main" val="1685234368"/>
      </p:ext>
    </p:extLst>
  </p:cSld>
</p:sld>
</file>

<file path=ppt/slides/slide9.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4746E2-2302-4C7A-A980-D7E47FAB3B5D}"/>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Sketch before polishing</a:t>
            </a:r>
          </a:p>
        </p:txBody>
      </p:sp>
      <p:sp>
        <p:nvSpPr>
          <p:cNvPr id="2" name="">
            <a:extLst xmlns:a="http://schemas.openxmlformats.org/drawingml/2006/main">
              <a:ext uri="{FF2B5EF4-FFF2-40B4-BE49-F238E27FC236}">
                <a16:creationId xmlns:a16="http://schemas.microsoft.com/office/drawing/2014/main" id="{9148D63D-87E3-4072-B93D-0E5165672783}"/>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Compare two different reading orders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b2a098380894431"/>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E13ACC3-A0A2-4816-9320-4DA86123706F}"/>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Use boxes and short labels for the important parts.</a:t>
            </a:r>
          </a:p>
        </p:txBody>
      </p:sp>
      <p:sp>
        <p:nvSpPr>
          <p:cNvPr id="5" name="">
            <a:extLst xmlns:a="http://schemas.openxmlformats.org/drawingml/2006/main">
              <a:ext uri="{FF2B5EF4-FFF2-40B4-BE49-F238E27FC236}">
                <a16:creationId xmlns:a16="http://schemas.microsoft.com/office/drawing/2014/main" id="{01312199-6276-4A73-85A6-ADC65E6C1F64}"/>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Keep the brief, copy, palette and size fixed.</a:t>
            </a:r>
          </a:p>
        </p:txBody>
      </p:sp>
      <p:sp>
        <p:nvSpPr>
          <p:cNvPr id="6" name="">
            <a:extLst xmlns:a="http://schemas.openxmlformats.org/drawingml/2006/main">
              <a:ext uri="{FF2B5EF4-FFF2-40B4-BE49-F238E27FC236}">
                <a16:creationId xmlns:a16="http://schemas.microsoft.com/office/drawing/2014/main" id="{4CF7E5B0-8F26-49DD-A277-80D19549A7E8}"/>
              </a:ext>
            </a:extLst>
          </p:cNvPr>
          <p:cNvSpPr>
            <a:spLocks xmlns:a="http://schemas.openxmlformats.org/drawingml/2006/main" noGrp="1"/>
          </p:cNvSpPr>
          <p:nvPr/>
        </p:nvSpPr>
        <p:spPr>
          <a:xfrm xmlns:a="http://schemas.openxmlformats.org/drawingml/2006/main">
            <a:off x="457200" y="542925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4518"/>
                </a:solidFill>
                <a:latin typeface="Helvetica Neue"/>
                <a:ea typeface="Helvetica Neue"/>
                <a:cs typeface="Helvetica Neue"/>
              </a:defRPr>
            </a:pPr>
            <a:r>
              <a:rPr sz="1800" b="1">
                <a:solidFill>
                  <a:srgbClr val="704518"/>
                </a:solidFill>
                <a:latin typeface="Helvetica Neue"/>
                <a:ea typeface="Helvetica Neue"/>
                <a:cs typeface="Helvetica Neue"/>
              </a:rPr>
              <a:t>Individual check: Make A and B differ in hierarchy. Predict first → second → third for each.</a:t>
            </a:r>
          </a:p>
        </p:txBody>
      </p:sp>
      <p:sp>
        <p:nvSpPr>
          <p:cNvPr id="7" name="">
            <a:extLst xmlns:a="http://schemas.openxmlformats.org/drawingml/2006/main">
              <a:ext uri="{FF2B5EF4-FFF2-40B4-BE49-F238E27FC236}">
                <a16:creationId xmlns:a16="http://schemas.microsoft.com/office/drawing/2014/main" id="{E9BBB7E7-41DA-4B34-AE46-2E6787B94EE9}"/>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09 / 12 · Original teaching model</a:t>
            </a:r>
          </a:p>
        </p:txBody>
      </p:sp>
    </p:spTree>
    <p:extLst>
      <p:ext uri="{BB962C8B-B14F-4D97-AF65-F5344CB8AC3E}">
        <p14:creationId xmlns:p14="http://schemas.microsoft.com/office/powerpoint/2010/main" val="1100331892"/>
      </p:ext>
    </p:extLst>
  </p:cSld>
</p:sld>
</file>

<file path=ppt/slides/slide10.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1DE833-6525-434B-BCE2-70F87FAE17D9}"/>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Ask a reader without coaching the answer</a:t>
            </a:r>
          </a:p>
        </p:txBody>
      </p:sp>
      <p:sp>
        <p:nvSpPr>
          <p:cNvPr id="2" name="">
            <a:extLst xmlns:a="http://schemas.openxmlformats.org/drawingml/2006/main">
              <a:ext uri="{FF2B5EF4-FFF2-40B4-BE49-F238E27FC236}">
                <a16:creationId xmlns:a16="http://schemas.microsoft.com/office/drawing/2014/main" id="{1D9CF0E6-281A-44A1-AF01-87AC1C71A069}"/>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Notice → message → action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959558226604cdf"/>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D339CA7-4211-46E4-84F8-14DD1FBF1DEB}"/>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Show A and B at the same size.</a:t>
            </a:r>
          </a:p>
        </p:txBody>
      </p:sp>
      <p:sp>
        <p:nvSpPr>
          <p:cNvPr id="5" name="">
            <a:extLst xmlns:a="http://schemas.openxmlformats.org/drawingml/2006/main">
              <a:ext uri="{FF2B5EF4-FFF2-40B4-BE49-F238E27FC236}">
                <a16:creationId xmlns:a16="http://schemas.microsoft.com/office/drawing/2014/main" id="{D1CF9F07-90AF-47EA-AE75-EE3CE4384408}"/>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Record their actual words separately from your prediction.</a:t>
            </a:r>
          </a:p>
        </p:txBody>
      </p:sp>
      <p:sp>
        <p:nvSpPr>
          <p:cNvPr id="6" name="">
            <a:extLst xmlns:a="http://schemas.openxmlformats.org/drawingml/2006/main">
              <a:ext uri="{FF2B5EF4-FFF2-40B4-BE49-F238E27FC236}">
                <a16:creationId xmlns:a16="http://schemas.microsoft.com/office/drawing/2014/main" id="{B898CF1A-A7B5-4DFC-BE09-E498638D95AE}"/>
              </a:ext>
            </a:extLst>
          </p:cNvPr>
          <p:cNvSpPr>
            <a:spLocks xmlns:a="http://schemas.openxmlformats.org/drawingml/2006/main" noGrp="1"/>
          </p:cNvSpPr>
          <p:nvPr/>
        </p:nvSpPr>
        <p:spPr>
          <a:xfrm xmlns:a="http://schemas.openxmlformats.org/drawingml/2006/main">
            <a:off x="457200" y="5562600"/>
            <a:ext cx="11277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056068"/>
                </a:solidFill>
                <a:latin typeface="Helvetica Neue"/>
                <a:ea typeface="Helvetica Neue"/>
                <a:cs typeface="Helvetica Neue"/>
              </a:defRPr>
            </a:pPr>
            <a:r>
              <a:rPr sz="1800" b="0">
                <a:solidFill>
                  <a:srgbClr val="056068"/>
                </a:solidFill>
                <a:latin typeface="Helvetica Neue"/>
                <a:ea typeface="Helvetica Neue"/>
                <a:cs typeface="Helvetica Neue"/>
              </a:rPr>
              <a:t>Explain: visible feature → concept → purpose</a:t>
            </a:r>
          </a:p>
        </p:txBody>
      </p:sp>
      <p:sp>
        <p:nvSpPr>
          <p:cNvPr id="7" name="">
            <a:extLst xmlns:a="http://schemas.openxmlformats.org/drawingml/2006/main">
              <a:ext uri="{FF2B5EF4-FFF2-40B4-BE49-F238E27FC236}">
                <a16:creationId xmlns:a16="http://schemas.microsoft.com/office/drawing/2014/main" id="{E6E53006-CE87-42D7-BAEB-CAB46CCBE2A7}"/>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10 / 12 · Original teaching model</a:t>
            </a:r>
          </a:p>
        </p:txBody>
      </p:sp>
    </p:spTree>
    <p:extLst>
      <p:ext uri="{BB962C8B-B14F-4D97-AF65-F5344CB8AC3E}">
        <p14:creationId xmlns:p14="http://schemas.microsoft.com/office/powerpoint/2010/main" val="750549778"/>
      </p:ext>
    </p:extLst>
  </p:cSld>
</p:sld>
</file>

<file path=ppt/slides/slide11.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9BCE25-E257-4E84-88AB-290C09F3D3A5}"/>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Preserve the first idea and revise</a:t>
            </a:r>
          </a:p>
        </p:txBody>
      </p:sp>
      <p:sp>
        <p:nvSpPr>
          <p:cNvPr id="2" name="">
            <a:extLst xmlns:a="http://schemas.openxmlformats.org/drawingml/2006/main">
              <a:ext uri="{FF2B5EF4-FFF2-40B4-BE49-F238E27FC236}">
                <a16:creationId xmlns:a16="http://schemas.microsoft.com/office/drawing/2014/main" id="{951050C5-4267-432A-8944-FEA0223773E5}"/>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One problem → one purposeful change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399f471441e4d8f"/>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F9CE5FF-560F-453A-A2F3-B1800FAE1A62}"/>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Keep A and B; duplicate the chosen direction.</a:t>
            </a:r>
          </a:p>
        </p:txBody>
      </p:sp>
      <p:sp>
        <p:nvSpPr>
          <p:cNvPr id="5" name="">
            <a:extLst xmlns:a="http://schemas.openxmlformats.org/drawingml/2006/main">
              <a:ext uri="{FF2B5EF4-FFF2-40B4-BE49-F238E27FC236}">
                <a16:creationId xmlns:a16="http://schemas.microsoft.com/office/drawing/2014/main" id="{7243C0BF-5C65-4301-AC87-37EF52CA0177}"/>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Retest the change, then explain a tradeoff.</a:t>
            </a:r>
          </a:p>
        </p:txBody>
      </p:sp>
      <p:sp>
        <p:nvSpPr>
          <p:cNvPr id="6" name="">
            <a:extLst xmlns:a="http://schemas.openxmlformats.org/drawingml/2006/main">
              <a:ext uri="{FF2B5EF4-FFF2-40B4-BE49-F238E27FC236}">
                <a16:creationId xmlns:a16="http://schemas.microsoft.com/office/drawing/2014/main" id="{7F6615E1-D3D9-4931-92D2-EA4531785B47}"/>
              </a:ext>
            </a:extLst>
          </p:cNvPr>
          <p:cNvSpPr>
            <a:spLocks xmlns:a="http://schemas.openxmlformats.org/drawingml/2006/main" noGrp="1"/>
          </p:cNvSpPr>
          <p:nvPr/>
        </p:nvSpPr>
        <p:spPr>
          <a:xfrm xmlns:a="http://schemas.openxmlformats.org/drawingml/2006/main">
            <a:off x="457200" y="542925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4518"/>
                </a:solidFill>
                <a:latin typeface="Helvetica Neue"/>
                <a:ea typeface="Helvetica Neue"/>
                <a:cs typeface="Helvetica Neue"/>
              </a:defRPr>
            </a:pPr>
            <a:r>
              <a:rPr sz="1800" b="1">
                <a:solidFill>
                  <a:srgbClr val="704518"/>
                </a:solidFill>
                <a:latin typeface="Helvetica Neue"/>
                <a:ea typeface="Helvetica Neue"/>
                <a:cs typeface="Helvetica Neue"/>
              </a:rPr>
              <a:t>Individual check: Which feature would you change after feedback, and why?</a:t>
            </a:r>
          </a:p>
        </p:txBody>
      </p:sp>
      <p:sp>
        <p:nvSpPr>
          <p:cNvPr id="7" name="">
            <a:extLst xmlns:a="http://schemas.openxmlformats.org/drawingml/2006/main">
              <a:ext uri="{FF2B5EF4-FFF2-40B4-BE49-F238E27FC236}">
                <a16:creationId xmlns:a16="http://schemas.microsoft.com/office/drawing/2014/main" id="{DEEEDFE3-FC0D-4FA6-A3EF-7E0E546D8A31}"/>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11 / 12 · Original teaching model</a:t>
            </a:r>
          </a:p>
        </p:txBody>
      </p:sp>
    </p:spTree>
    <p:extLst>
      <p:ext uri="{BB962C8B-B14F-4D97-AF65-F5344CB8AC3E}">
        <p14:creationId xmlns:p14="http://schemas.microsoft.com/office/powerpoint/2010/main" val="257854660"/>
      </p:ext>
    </p:extLst>
  </p:cSld>
</p:sld>
</file>

<file path=ppt/slides/slide1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29AD9C-4FA1-449E-9299-3E5736C1B99F}"/>
              </a:ext>
            </a:extLst>
          </p:cNvPr>
          <p:cNvSpPr>
            <a:spLocks xmlns:a="http://schemas.openxmlformats.org/drawingml/2006/main" noGrp="1"/>
          </p:cNvSpPr>
          <p:nvPr/>
        </p:nvSpPr>
        <p:spPr>
          <a:xfrm xmlns:a="http://schemas.openxmlformats.org/drawingml/2006/main">
            <a:off x="457200" y="304800"/>
            <a:ext cx="11277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443"/>
                </a:solidFill>
                <a:latin typeface="Helvetica Neue"/>
                <a:ea typeface="Helvetica Neue"/>
                <a:cs typeface="Helvetica Neue"/>
              </a:defRPr>
            </a:pPr>
            <a:r>
              <a:rPr sz="3300" b="1">
                <a:solidFill>
                  <a:srgbClr val="193443"/>
                </a:solidFill>
                <a:latin typeface="Helvetica Neue"/>
                <a:ea typeface="Helvetica Neue"/>
                <a:cs typeface="Helvetica Neue"/>
              </a:rPr>
              <a:t>Show the reasoning and the files</a:t>
            </a:r>
          </a:p>
        </p:txBody>
      </p:sp>
      <p:sp>
        <p:nvSpPr>
          <p:cNvPr id="2" name="">
            <a:extLst xmlns:a="http://schemas.openxmlformats.org/drawingml/2006/main">
              <a:ext uri="{FF2B5EF4-FFF2-40B4-BE49-F238E27FC236}">
                <a16:creationId xmlns:a16="http://schemas.microsoft.com/office/drawing/2014/main" id="{89AA125D-099D-4115-BC94-B756E8E5895D}"/>
              </a:ext>
            </a:extLst>
          </p:cNvPr>
          <p:cNvSpPr>
            <a:spLocks xmlns:a="http://schemas.openxmlformats.org/drawingml/2006/main" noGrp="1"/>
          </p:cNvSpPr>
          <p:nvPr/>
        </p:nvSpPr>
        <p:spPr>
          <a:xfrm xmlns:a="http://schemas.openxmlformats.org/drawingml/2006/main">
            <a:off x="457200" y="1285875"/>
            <a:ext cx="11277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056068"/>
                </a:solidFill>
                <a:latin typeface="Helvetica Neue"/>
                <a:ea typeface="Helvetica Neue"/>
                <a:cs typeface="Helvetica Neue"/>
              </a:defRPr>
            </a:pPr>
            <a:r>
              <a:rPr sz="2100" b="0">
                <a:solidFill>
                  <a:srgbClr val="056068"/>
                </a:solidFill>
                <a:latin typeface="Helvetica Neue"/>
                <a:ea typeface="Helvetica Neue"/>
                <a:cs typeface="Helvetica Neue"/>
              </a:rPr>
              <a:t>Direction → alternatives → evidence → revision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f12dcea03a94ee9"/>
          <a:stretch xmlns:a="http://schemas.openxmlformats.org/drawingml/2006/main"/>
        </p:blipFill>
        <p:spPr>
          <a:xfrm xmlns:a="http://schemas.openxmlformats.org/drawingml/2006/main">
            <a:off x="457200" y="2172335"/>
            <a:ext cx="7162800" cy="310388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D85C563-8737-41E5-B95A-997C1A09279F}"/>
              </a:ext>
            </a:extLst>
          </p:cNvPr>
          <p:cNvSpPr>
            <a:spLocks xmlns:a="http://schemas.openxmlformats.org/drawingml/2006/main" noGrp="1"/>
          </p:cNvSpPr>
          <p:nvPr/>
        </p:nvSpPr>
        <p:spPr>
          <a:xfrm xmlns:a="http://schemas.openxmlformats.org/drawingml/2006/main">
            <a:off x="7905750" y="2095500"/>
            <a:ext cx="38290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93443"/>
                </a:solidFill>
                <a:latin typeface="Helvetica Neue"/>
                <a:ea typeface="Helvetica Neue"/>
                <a:cs typeface="Helvetica Neue"/>
              </a:defRPr>
            </a:pPr>
            <a:r>
              <a:rPr sz="1800" b="1">
                <a:solidFill>
                  <a:srgbClr val="193443"/>
                </a:solidFill>
                <a:latin typeface="Helvetica Neue"/>
                <a:ea typeface="Helvetica Neue"/>
                <a:cs typeface="Helvetica Neue"/>
              </a:rPr>
              <a:t>Keep an editable PSD and review exports.</a:t>
            </a:r>
          </a:p>
        </p:txBody>
      </p:sp>
      <p:sp>
        <p:nvSpPr>
          <p:cNvPr id="5" name="">
            <a:extLst xmlns:a="http://schemas.openxmlformats.org/drawingml/2006/main">
              <a:ext uri="{FF2B5EF4-FFF2-40B4-BE49-F238E27FC236}">
                <a16:creationId xmlns:a16="http://schemas.microsoft.com/office/drawing/2014/main" id="{8EB89B6F-51B1-4A19-A8D4-BD3F9D42B1B2}"/>
              </a:ext>
            </a:extLst>
          </p:cNvPr>
          <p:cNvSpPr>
            <a:spLocks xmlns:a="http://schemas.openxmlformats.org/drawingml/2006/main" noGrp="1"/>
          </p:cNvSpPr>
          <p:nvPr/>
        </p:nvSpPr>
        <p:spPr>
          <a:xfrm xmlns:a="http://schemas.openxmlformats.org/drawingml/2006/main">
            <a:off x="7905750" y="3714750"/>
            <a:ext cx="38290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93443"/>
                </a:solidFill>
                <a:latin typeface="Helvetica Neue"/>
                <a:ea typeface="Helvetica Neue"/>
                <a:cs typeface="Helvetica Neue"/>
              </a:defRPr>
            </a:pPr>
            <a:r>
              <a:rPr sz="1725" b="0">
                <a:solidFill>
                  <a:srgbClr val="193443"/>
                </a:solidFill>
                <a:latin typeface="Helvetica Neue"/>
                <a:ea typeface="Helvetica Neue"/>
                <a:cs typeface="Helvetica Neue"/>
              </a:rPr>
              <a:t>Native save/reopen and the independent cold run remain pending.</a:t>
            </a:r>
          </a:p>
        </p:txBody>
      </p:sp>
      <p:sp>
        <p:nvSpPr>
          <p:cNvPr id="6" name="">
            <a:extLst xmlns:a="http://schemas.openxmlformats.org/drawingml/2006/main">
              <a:ext uri="{FF2B5EF4-FFF2-40B4-BE49-F238E27FC236}">
                <a16:creationId xmlns:a16="http://schemas.microsoft.com/office/drawing/2014/main" id="{9DF19CA9-1C65-4353-9635-E9C1779F324B}"/>
              </a:ext>
            </a:extLst>
          </p:cNvPr>
          <p:cNvSpPr>
            <a:spLocks xmlns:a="http://schemas.openxmlformats.org/drawingml/2006/main" noGrp="1"/>
          </p:cNvSpPr>
          <p:nvPr/>
        </p:nvSpPr>
        <p:spPr>
          <a:xfrm xmlns:a="http://schemas.openxmlformats.org/drawingml/2006/main">
            <a:off x="457200" y="5429250"/>
            <a:ext cx="112776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704518"/>
                </a:solidFill>
                <a:latin typeface="Helvetica Neue"/>
                <a:ea typeface="Helvetica Neue"/>
                <a:cs typeface="Helvetica Neue"/>
              </a:defRPr>
            </a:pPr>
            <a:r>
              <a:rPr sz="1800" b="1">
                <a:solidFill>
                  <a:srgbClr val="704518"/>
                </a:solidFill>
                <a:latin typeface="Helvetica Neue"/>
                <a:ea typeface="Helvetica Neue"/>
                <a:cs typeface="Helvetica Neue"/>
              </a:rPr>
              <a:t>Individual check: Evidence: A reader response + visible change; B completed steps; C file size. Explain.</a:t>
            </a:r>
          </a:p>
        </p:txBody>
      </p:sp>
      <p:sp>
        <p:nvSpPr>
          <p:cNvPr id="7" name="">
            <a:extLst xmlns:a="http://schemas.openxmlformats.org/drawingml/2006/main">
              <a:ext uri="{FF2B5EF4-FFF2-40B4-BE49-F238E27FC236}">
                <a16:creationId xmlns:a16="http://schemas.microsoft.com/office/drawing/2014/main" id="{224640FA-6E4A-43E4-A0C5-623969563266}"/>
              </a:ext>
            </a:extLst>
          </p:cNvPr>
          <p:cNvSpPr>
            <a:spLocks xmlns:a="http://schemas.openxmlformats.org/drawingml/2006/main" noGrp="1"/>
          </p:cNvSpPr>
          <p:nvPr/>
        </p:nvSpPr>
        <p:spPr>
          <a:xfrm xmlns:a="http://schemas.openxmlformats.org/drawingml/2006/main">
            <a:off x="457200" y="6467475"/>
            <a:ext cx="11277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93443"/>
                </a:solidFill>
                <a:latin typeface="Helvetica Neue"/>
                <a:ea typeface="Helvetica Neue"/>
                <a:cs typeface="Helvetica Neue"/>
              </a:defRPr>
            </a:pPr>
            <a:r>
              <a:rPr sz="1200" b="0">
                <a:solidFill>
                  <a:srgbClr val="193443"/>
                </a:solidFill>
                <a:latin typeface="Helvetica Neue"/>
                <a:ea typeface="Helvetica Neue"/>
                <a:cs typeface="Helvetica Neue"/>
              </a:rPr>
              <a:t>COM11 · PLAN · 12 / 12 · Original teaching model</a:t>
            </a:r>
          </a:p>
        </p:txBody>
      </p:sp>
    </p:spTree>
    <p:extLst>
      <p:ext uri="{BB962C8B-B14F-4D97-AF65-F5344CB8AC3E}">
        <p14:creationId xmlns:p14="http://schemas.microsoft.com/office/powerpoint/2010/main" val="15903920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2026-10-08T20:27:23.0950000Z</dcterms:created>
  <dcterms:modified xsi:type="dcterms:W3CDTF">2026-10-08T20:27:23.0950000Z</dcterms:modified>
</coreProperties>
</file>